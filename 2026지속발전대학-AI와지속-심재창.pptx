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312" r:id="rId3"/>
    <p:sldId id="337" r:id="rId4"/>
    <p:sldId id="314" r:id="rId5"/>
    <p:sldId id="348" r:id="rId6"/>
    <p:sldId id="346" r:id="rId7"/>
    <p:sldId id="347" r:id="rId8"/>
    <p:sldId id="339" r:id="rId9"/>
    <p:sldId id="351" r:id="rId10"/>
    <p:sldId id="345" r:id="rId11"/>
    <p:sldId id="338" r:id="rId12"/>
    <p:sldId id="308" r:id="rId13"/>
    <p:sldId id="341" r:id="rId14"/>
    <p:sldId id="310" r:id="rId15"/>
    <p:sldId id="309" r:id="rId16"/>
    <p:sldId id="311" r:id="rId17"/>
    <p:sldId id="335" r:id="rId18"/>
    <p:sldId id="340" r:id="rId19"/>
    <p:sldId id="342" r:id="rId20"/>
    <p:sldId id="350" r:id="rId21"/>
    <p:sldId id="344" r:id="rId22"/>
    <p:sldId id="349" r:id="rId23"/>
    <p:sldId id="288" r:id="rId24"/>
    <p:sldId id="353" r:id="rId25"/>
    <p:sldId id="352" r:id="rId26"/>
    <p:sldId id="333" r:id="rId27"/>
  </p:sldIdLst>
  <p:sldSz cx="9144000" cy="6858000" type="screen4x3"/>
  <p:notesSz cx="6858000" cy="9144000"/>
  <p:embeddedFontLst>
    <p:embeddedFont>
      <p:font typeface="HY울릉도B" panose="020B0600000101010101" charset="-127"/>
      <p:regular r:id="rId29"/>
    </p:embeddedFont>
    <p:embeddedFont>
      <p:font typeface="HY울릉도M" panose="020B0600000101010101" charset="-127"/>
      <p:regular r:id="rId30"/>
    </p:embeddedFont>
    <p:embeddedFont>
      <p:font typeface="나눔고딕 ExtraBold" panose="020B0600000101010101" charset="-127"/>
      <p:bold r:id="rId31"/>
    </p:embeddedFont>
    <p:embeddedFont>
      <p:font typeface="HY견고딕" panose="02030600000101010101" pitchFamily="18" charset="-127"/>
      <p:regular r:id="rId32"/>
    </p:embeddedFont>
    <p:embeddedFont>
      <p:font typeface="Sans Serif Collection" panose="020B0502040504020204" pitchFamily="34" charset="0"/>
      <p:regular r:id="rId33"/>
    </p:embeddedFont>
    <p:embeddedFont>
      <p:font typeface="맑은 고딕" panose="020B0503020000020004" pitchFamily="50" charset="-127"/>
      <p:regular r:id="rId34"/>
      <p:bold r:id="rId35"/>
    </p:embeddedFont>
    <p:embeddedFont>
      <p:font typeface="함초롬돋움" panose="020B0604000101010101" pitchFamily="50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3" autoAdjust="0"/>
    <p:restoredTop sz="94690" autoAdjust="0"/>
  </p:normalViewPr>
  <p:slideViewPr>
    <p:cSldViewPr>
      <p:cViewPr varScale="1">
        <p:scale>
          <a:sx n="95" d="100"/>
          <a:sy n="95" d="100"/>
        </p:scale>
        <p:origin x="3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E5C0F-CB3F-4B4A-80C8-F7DE91CB76F1}" type="datetimeFigureOut">
              <a:rPr lang="ko-KR" altLang="en-US" smtClean="0"/>
              <a:pPr/>
              <a:t>2026-02-28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8B523-5EAE-4E69-AF02-6661EE19D5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33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선박</a:t>
            </a:r>
            <a:r>
              <a:rPr lang="en-US" altLang="ko-KR" dirty="0"/>
              <a:t>/LNG</a:t>
            </a:r>
            <a:r>
              <a:rPr lang="ko-KR" altLang="en-US" dirty="0"/>
              <a:t>운반선</a:t>
            </a:r>
            <a:r>
              <a:rPr lang="en-US" altLang="ko-KR" dirty="0"/>
              <a:t>/</a:t>
            </a:r>
            <a:r>
              <a:rPr lang="ko-KR" altLang="en-US" dirty="0"/>
              <a:t>선박용 디젤 엔진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29912-D428-48C3-87CF-AFA4E4A90D5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025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선박</a:t>
            </a:r>
            <a:r>
              <a:rPr lang="en-US" altLang="ko-KR" dirty="0"/>
              <a:t>/LNG</a:t>
            </a:r>
            <a:r>
              <a:rPr lang="ko-KR" altLang="en-US" dirty="0"/>
              <a:t>운반선</a:t>
            </a:r>
            <a:r>
              <a:rPr lang="en-US" altLang="ko-KR" dirty="0"/>
              <a:t>/</a:t>
            </a:r>
            <a:r>
              <a:rPr lang="ko-KR" altLang="en-US" dirty="0"/>
              <a:t>선박용 디젤 엔진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29912-D428-48C3-87CF-AFA4E4A90D5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252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선박</a:t>
            </a:r>
            <a:r>
              <a:rPr lang="en-US" altLang="ko-KR" dirty="0"/>
              <a:t>/LNG</a:t>
            </a:r>
            <a:r>
              <a:rPr lang="ko-KR" altLang="en-US" dirty="0"/>
              <a:t>운반선</a:t>
            </a:r>
            <a:r>
              <a:rPr lang="en-US" altLang="ko-KR" dirty="0"/>
              <a:t>/</a:t>
            </a:r>
            <a:r>
              <a:rPr lang="ko-KR" altLang="en-US" dirty="0"/>
              <a:t>선박용 디젤 엔진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29912-D428-48C3-87CF-AFA4E4A90D5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93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1AF5-24D7-4349-BD0F-E9BD27267776}" type="datetime1">
              <a:rPr lang="ko-KR" altLang="en-US" smtClean="0"/>
              <a:pPr/>
              <a:t>2026-02-28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34678"/>
            <a:ext cx="8229600" cy="418058"/>
          </a:xfrm>
        </p:spPr>
        <p:txBody>
          <a:bodyPr>
            <a:noAutofit/>
          </a:bodyPr>
          <a:lstStyle>
            <a:lvl1pPr algn="l">
              <a:defRPr sz="3200" b="1" i="0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HY울릉도M" panose="02030600000101010101" pitchFamily="18" charset="-127"/>
                <a:ea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824536"/>
          </a:xfrm>
        </p:spPr>
        <p:txBody>
          <a:bodyPr>
            <a:normAutofit/>
          </a:bodyPr>
          <a:lstStyle>
            <a:lvl1pPr>
              <a:defRPr sz="2800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ns Serif Collection" panose="020B0502040504020204" pitchFamily="34" charset="0"/>
                <a:ea typeface="함초롬돋움" panose="020B0604000101010101" pitchFamily="50" charset="-127"/>
              </a:defRPr>
            </a:lvl1pPr>
            <a:lvl2pPr>
              <a:defRPr sz="2400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ns Serif Collection" panose="020B0502040504020204" pitchFamily="34" charset="0"/>
                <a:ea typeface="함초롬돋움" panose="020B0604000101010101" pitchFamily="50" charset="-127"/>
              </a:defRPr>
            </a:lvl2pPr>
            <a:lvl3pPr>
              <a:defRPr sz="2000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ns Serif Collection" panose="020B0502040504020204" pitchFamily="34" charset="0"/>
                <a:ea typeface="함초롬돋움" panose="020B0604000101010101" pitchFamily="50" charset="-127"/>
              </a:defRPr>
            </a:lvl3pPr>
            <a:lvl4pPr>
              <a:defRPr sz="1800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ns Serif Collection" panose="020B0502040504020204" pitchFamily="34" charset="0"/>
                <a:ea typeface="함초롬돋움" panose="020B0604000101010101" pitchFamily="50" charset="-127"/>
              </a:defRPr>
            </a:lvl4pPr>
            <a:lvl5pPr>
              <a:defRPr sz="1800" baseline="0">
                <a:ln>
                  <a:solidFill>
                    <a:schemeClr val="accent1">
                      <a:alpha val="0"/>
                    </a:schemeClr>
                  </a:solidFill>
                </a:ln>
                <a:latin typeface="Sans Serif Collection" panose="020B0502040504020204" pitchFamily="34" charset="0"/>
                <a:ea typeface="함초롬돋움" panose="020B0604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607A4-16A3-47D0-A2A4-67E00DB21750}" type="datetime1">
              <a:rPr lang="ko-KR" altLang="en-US" smtClean="0"/>
              <a:pPr/>
              <a:t>2026-02-28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41B92A4-8BED-48D2-AE20-4E144082D689}"/>
              </a:ext>
            </a:extLst>
          </p:cNvPr>
          <p:cNvSpPr/>
          <p:nvPr userDrawn="1"/>
        </p:nvSpPr>
        <p:spPr>
          <a:xfrm>
            <a:off x="457200" y="428256"/>
            <a:ext cx="8291264" cy="484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D2D636-4D1F-4A4F-9470-F8C593F20D3E}"/>
              </a:ext>
            </a:extLst>
          </p:cNvPr>
          <p:cNvSpPr/>
          <p:nvPr userDrawn="1"/>
        </p:nvSpPr>
        <p:spPr>
          <a:xfrm>
            <a:off x="457200" y="1196752"/>
            <a:ext cx="8291264" cy="484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44B82B-C007-4316-B99C-5EB97E510FB0}"/>
              </a:ext>
            </a:extLst>
          </p:cNvPr>
          <p:cNvSpPr/>
          <p:nvPr userDrawn="1"/>
        </p:nvSpPr>
        <p:spPr>
          <a:xfrm>
            <a:off x="395536" y="6247091"/>
            <a:ext cx="8291264" cy="484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304AA-F367-46C0-9626-83F3D0C795C2}" type="datetime1">
              <a:rPr lang="ko-KR" altLang="en-US" smtClean="0"/>
              <a:pPr/>
              <a:t>2026-02-28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05CEB6-109F-478D-A07E-53B1CB84E56A}"/>
              </a:ext>
            </a:extLst>
          </p:cNvPr>
          <p:cNvSpPr/>
          <p:nvPr userDrawn="1"/>
        </p:nvSpPr>
        <p:spPr>
          <a:xfrm>
            <a:off x="395536" y="1340768"/>
            <a:ext cx="829126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6685A-C2B2-4914-9A6E-519DC8D6F4AC}" type="datetime1">
              <a:rPr lang="ko-KR" altLang="en-US" smtClean="0"/>
              <a:pPr/>
              <a:t>2026-02-28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울릉도B" panose="02030600000101010101" pitchFamily="18" charset="-127"/>
                <a:ea typeface="HY울릉도B" panose="02030600000101010101" pitchFamily="18" charset="-127"/>
              </a:rPr>
              <a:t>AI</a:t>
            </a:r>
            <a:r>
              <a:rPr lang="ko-KR" altLang="en-US" sz="5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울릉도B" panose="02030600000101010101" pitchFamily="18" charset="-127"/>
                <a:ea typeface="HY울릉도B" panose="02030600000101010101" pitchFamily="18" charset="-127"/>
              </a:rPr>
              <a:t>의</a:t>
            </a:r>
            <a: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울릉도B" panose="02030600000101010101" pitchFamily="18" charset="-127"/>
                <a:ea typeface="HY울릉도B" panose="02030600000101010101" pitchFamily="18" charset="-127"/>
              </a:rPr>
              <a:t> </a:t>
            </a:r>
            <a:r>
              <a:rPr lang="ko-KR" altLang="en-US" sz="5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울릉도B" panose="02030600000101010101" pitchFamily="18" charset="-127"/>
                <a:ea typeface="HY울릉도B" panose="02030600000101010101" pitchFamily="18" charset="-127"/>
              </a:rPr>
              <a:t>미래와 안동의</a:t>
            </a:r>
            <a:br>
              <a:rPr lang="en-US" altLang="ko-KR" sz="5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울릉도B" panose="02030600000101010101" pitchFamily="18" charset="-127"/>
                <a:ea typeface="HY울릉도B" panose="02030600000101010101" pitchFamily="18" charset="-127"/>
              </a:rPr>
            </a:br>
            <a:r>
              <a:rPr lang="ko-KR" altLang="en-US" sz="5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울릉도B" panose="02030600000101010101" pitchFamily="18" charset="-127"/>
                <a:ea typeface="HY울릉도B" panose="02030600000101010101" pitchFamily="18" charset="-127"/>
              </a:rPr>
              <a:t>지속 발전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>
              <a:ln>
                <a:solidFill>
                  <a:schemeClr val="accent1">
                    <a:alpha val="0"/>
                  </a:scheme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</a:rPr>
              <a:t>경국대학교 심재창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71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소개 및 인사</a:t>
            </a:r>
            <a:r>
              <a:rPr lang="en-US" altLang="ko-KR" dirty="0"/>
              <a:t>, </a:t>
            </a:r>
            <a:r>
              <a:rPr lang="ko-KR" altLang="en-US" dirty="0"/>
              <a:t>퀴즈</a:t>
            </a:r>
            <a:endParaRPr lang="en-US" altLang="ko-KR" dirty="0"/>
          </a:p>
          <a:p>
            <a:r>
              <a:rPr lang="ko-KR" altLang="en-US" dirty="0"/>
              <a:t>신비한 인체</a:t>
            </a:r>
            <a:r>
              <a:rPr lang="en-US" altLang="ko-KR" dirty="0"/>
              <a:t>, </a:t>
            </a:r>
            <a:r>
              <a:rPr lang="ko-KR" altLang="en-US" dirty="0"/>
              <a:t>인류의 발견과 발명</a:t>
            </a:r>
            <a:endParaRPr lang="en-US" altLang="ko-KR" dirty="0"/>
          </a:p>
          <a:p>
            <a:r>
              <a:rPr lang="ko-KR" altLang="en-US" dirty="0"/>
              <a:t>자랑스런 대한민국</a:t>
            </a:r>
          </a:p>
          <a:p>
            <a:r>
              <a:rPr lang="en-US" altLang="ko-KR" dirty="0"/>
              <a:t>IT</a:t>
            </a:r>
            <a:r>
              <a:rPr lang="ko-KR" altLang="en-US" dirty="0"/>
              <a:t>의 변천사와 산업혁명</a:t>
            </a:r>
          </a:p>
          <a:p>
            <a:r>
              <a:rPr lang="ko-KR" altLang="en-US" dirty="0"/>
              <a:t>인공지능</a:t>
            </a:r>
            <a:endParaRPr lang="en-US" altLang="ko-KR" dirty="0"/>
          </a:p>
          <a:p>
            <a:pPr lvl="1"/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소개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LLM </a:t>
            </a:r>
            <a:r>
              <a:rPr lang="ko-KR" altLang="en-US" dirty="0"/>
              <a:t>실습</a:t>
            </a:r>
          </a:p>
          <a:p>
            <a:pPr lvl="1"/>
            <a:r>
              <a:rPr lang="ko-KR" altLang="en-US" dirty="0" err="1"/>
              <a:t>바이브</a:t>
            </a:r>
            <a:r>
              <a:rPr lang="ko-KR" altLang="en-US" dirty="0"/>
              <a:t> 코딩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미래와 지속발전</a:t>
            </a:r>
            <a:endParaRPr lang="en-US" altLang="ko-KR" dirty="0"/>
          </a:p>
          <a:p>
            <a:r>
              <a:rPr lang="ko-KR" altLang="en-US" dirty="0"/>
              <a:t>결론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 및 인사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90C3ED5C-4B88-4092-8C18-302E913910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옆 짝과 격하게 축복의 인사</a:t>
            </a:r>
            <a:endParaRPr lang="en-US" altLang="ko-KR" dirty="0"/>
          </a:p>
          <a:p>
            <a:pPr lvl="1"/>
            <a:r>
              <a:rPr lang="ko-KR" altLang="en-US" dirty="0"/>
              <a:t>옆 짝이 당신 이어서 이미 행복합니다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당신 옆에 앉게 되어  행운입니다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2044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월의 달력</a:t>
            </a:r>
            <a:endParaRPr lang="en-US" altLang="ko-KR" dirty="0"/>
          </a:p>
          <a:p>
            <a:r>
              <a:rPr lang="ko-KR" altLang="en-US" dirty="0"/>
              <a:t>간단 적성 검사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BCE4AA8-1868-44FE-8D83-548AE08A92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심재창</a:t>
            </a:r>
            <a:endParaRPr lang="en-US" altLang="ko-KR" dirty="0"/>
          </a:p>
          <a:p>
            <a:r>
              <a:rPr lang="ko-KR" altLang="en-US" dirty="0"/>
              <a:t>컴퓨터공학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7" name="Picture 6" descr="재미삼아 아두이노 Arduino - YES24">
            <a:extLst>
              <a:ext uri="{FF2B5EF4-FFF2-40B4-BE49-F238E27FC236}">
                <a16:creationId xmlns:a16="http://schemas.microsoft.com/office/drawing/2014/main" id="{B603C6EC-24B8-84F8-4A9E-F74BB34AC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105" y="3505659"/>
            <a:ext cx="2133600" cy="262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알라딘: 꿀잼 앱 인벤터">
            <a:extLst>
              <a:ext uri="{FF2B5EF4-FFF2-40B4-BE49-F238E27FC236}">
                <a16:creationId xmlns:a16="http://schemas.microsoft.com/office/drawing/2014/main" id="{DC8147B2-15A1-620B-6B56-52D2A45BA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678" y="3506537"/>
            <a:ext cx="1876522" cy="26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내용 개체 틀 9">
            <a:extLst>
              <a:ext uri="{FF2B5EF4-FFF2-40B4-BE49-F238E27FC236}">
                <a16:creationId xmlns:a16="http://schemas.microsoft.com/office/drawing/2014/main" id="{4EB58C67-0FC7-42FC-B6AD-5A57E83BE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699649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5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Quiz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3200" dirty="0"/>
              <a:t>나는 무엇일까요</a:t>
            </a:r>
            <a:r>
              <a:rPr lang="en-US" altLang="ko-KR" sz="3200" dirty="0"/>
              <a:t>?</a:t>
            </a:r>
          </a:p>
          <a:p>
            <a:pPr lvl="1"/>
            <a:r>
              <a:rPr lang="ko-KR" altLang="en-US" sz="2800" dirty="0"/>
              <a:t>무게는</a:t>
            </a:r>
            <a:r>
              <a:rPr lang="en-US" altLang="ko-KR" sz="2800" dirty="0"/>
              <a:t> </a:t>
            </a:r>
            <a:r>
              <a:rPr lang="ko-KR" altLang="en-US" sz="2800" dirty="0"/>
              <a:t>반근</a:t>
            </a:r>
            <a:r>
              <a:rPr lang="en-US" altLang="ko-KR" sz="2800" dirty="0"/>
              <a:t>(300g)</a:t>
            </a:r>
            <a:r>
              <a:rPr lang="ko-KR" altLang="en-US" sz="2800" dirty="0"/>
              <a:t>정도</a:t>
            </a:r>
            <a:endParaRPr lang="en-US" altLang="ko-KR" sz="2800" dirty="0"/>
          </a:p>
          <a:p>
            <a:pPr lvl="1"/>
            <a:r>
              <a:rPr lang="en-US" altLang="ko-KR" sz="2800" dirty="0"/>
              <a:t>120,000km </a:t>
            </a:r>
            <a:r>
              <a:rPr lang="ko-KR" altLang="en-US" sz="2800" dirty="0"/>
              <a:t>까지 뭔가를 구석구석 전달 함</a:t>
            </a:r>
            <a:endParaRPr lang="en-US" altLang="ko-KR" sz="2800" dirty="0"/>
          </a:p>
          <a:p>
            <a:pPr lvl="1"/>
            <a:r>
              <a:rPr lang="ko-KR" altLang="en-US" sz="2800" dirty="0"/>
              <a:t>작동 후 한번도 쉬지 않음</a:t>
            </a:r>
            <a:endParaRPr lang="en-US" altLang="ko-KR" sz="2800" dirty="0"/>
          </a:p>
          <a:p>
            <a:pPr lvl="1"/>
            <a:r>
              <a:rPr lang="ko-KR" altLang="en-US" sz="2800" dirty="0"/>
              <a:t>내게도 있음</a:t>
            </a:r>
            <a:endParaRPr lang="en-US" altLang="ko-KR" sz="2800" dirty="0"/>
          </a:p>
          <a:p>
            <a:r>
              <a:rPr lang="ko-KR" altLang="en-US" sz="3200" dirty="0"/>
              <a:t>우리의 </a:t>
            </a:r>
            <a:r>
              <a:rPr lang="en-US" altLang="ko-KR" sz="3200" dirty="0"/>
              <a:t>AI: </a:t>
            </a:r>
            <a:r>
              <a:rPr lang="en-US" altLang="ko-KR" sz="3200" dirty="0" err="1"/>
              <a:t>Hubo</a:t>
            </a:r>
            <a:r>
              <a:rPr lang="en-US" altLang="ko-KR" sz="3200" dirty="0"/>
              <a:t> </a:t>
            </a:r>
            <a:r>
              <a:rPr lang="en-US" altLang="ko-KR" sz="3200" dirty="0" err="1"/>
              <a:t>Darpa</a:t>
            </a:r>
            <a:endParaRPr lang="en-US" altLang="ko-KR" sz="3200" dirty="0"/>
          </a:p>
          <a:p>
            <a:r>
              <a:rPr lang="ko-KR" altLang="en-US" sz="3200" dirty="0"/>
              <a:t>광활한 우주</a:t>
            </a:r>
            <a:r>
              <a:rPr lang="en-US" altLang="ko-KR" sz="3200" dirty="0"/>
              <a:t>(</a:t>
            </a:r>
            <a:r>
              <a:rPr lang="ko-KR" altLang="en-US" sz="3200" dirty="0" err="1"/>
              <a:t>소풍온</a:t>
            </a:r>
            <a:r>
              <a:rPr lang="ko-KR" altLang="en-US" sz="3200" dirty="0"/>
              <a:t> 지구라는 별나라</a:t>
            </a:r>
            <a:r>
              <a:rPr lang="en-US" altLang="ko-KR" sz="3200" dirty="0"/>
              <a:t>)</a:t>
            </a:r>
          </a:p>
          <a:p>
            <a:r>
              <a:rPr lang="en-US" altLang="ko-KR" sz="3200" dirty="0" err="1"/>
              <a:t>Kakao</a:t>
            </a:r>
            <a:r>
              <a:rPr lang="en-US" altLang="ko-KR" sz="3200" dirty="0"/>
              <a:t> GPT: </a:t>
            </a:r>
            <a:r>
              <a:rPr lang="ko-KR" altLang="en-US" sz="2800" dirty="0"/>
              <a:t>별의 개수와 모래의 수</a:t>
            </a:r>
            <a:r>
              <a:rPr lang="en-US" altLang="ko-KR" sz="2800" dirty="0"/>
              <a:t>, </a:t>
            </a:r>
            <a:r>
              <a:rPr lang="ko-KR" altLang="en-US" sz="2800" dirty="0">
                <a:solidFill>
                  <a:srgbClr val="FF0000"/>
                </a:solidFill>
              </a:rPr>
              <a:t>안동의 국보</a:t>
            </a:r>
            <a:endParaRPr lang="en-US" altLang="ko-KR" sz="2800" dirty="0">
              <a:solidFill>
                <a:srgbClr val="FF0000"/>
              </a:solidFill>
            </a:endParaRPr>
          </a:p>
          <a:p>
            <a:endParaRPr lang="en-US" altLang="ko-KR" sz="3200" dirty="0"/>
          </a:p>
          <a:p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855A7-4B65-4803-80C9-DC39DD8E8CD7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26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A1447A0-4E61-4B62-84E9-8D955317A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064" y="1104648"/>
            <a:ext cx="1908911" cy="509022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CF9BC2D-539F-457F-B4DD-9935FDC3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신비한 인체 </a:t>
            </a:r>
            <a:r>
              <a:rPr lang="en-US" altLang="ko-KR" dirty="0"/>
              <a:t>(</a:t>
            </a:r>
            <a:r>
              <a:rPr lang="ko-KR" altLang="en-US" dirty="0"/>
              <a:t>위대한 작품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D39D5-ADAF-423A-B451-188B6DFA4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신경</a:t>
            </a:r>
            <a:r>
              <a:rPr lang="en-US" altLang="ko-KR" dirty="0"/>
              <a:t>.</a:t>
            </a:r>
            <a:r>
              <a:rPr lang="ko-KR" altLang="en-US" dirty="0"/>
              <a:t>의식</a:t>
            </a:r>
            <a:r>
              <a:rPr lang="en-US" altLang="ko-KR" dirty="0"/>
              <a:t>: </a:t>
            </a:r>
            <a:r>
              <a:rPr lang="ko-KR" altLang="en-US" dirty="0"/>
              <a:t>신경계</a:t>
            </a:r>
            <a:r>
              <a:rPr lang="en-US" altLang="ko-KR" dirty="0"/>
              <a:t>, </a:t>
            </a:r>
            <a:r>
              <a:rPr lang="ko-KR" altLang="en-US" dirty="0"/>
              <a:t>뇌</a:t>
            </a:r>
            <a:r>
              <a:rPr lang="en-US" altLang="ko-KR" dirty="0"/>
              <a:t>, </a:t>
            </a:r>
            <a:r>
              <a:rPr lang="ko-KR" altLang="en-US" dirty="0"/>
              <a:t>감각계</a:t>
            </a:r>
            <a:endParaRPr lang="en-US" altLang="ko-KR" dirty="0"/>
          </a:p>
          <a:p>
            <a:r>
              <a:rPr lang="ko-KR" altLang="en-US" dirty="0"/>
              <a:t>순환</a:t>
            </a:r>
            <a:r>
              <a:rPr lang="en-US" altLang="ko-KR" dirty="0"/>
              <a:t>.</a:t>
            </a:r>
            <a:r>
              <a:rPr lang="ko-KR" altLang="en-US" dirty="0"/>
              <a:t>생명 유지</a:t>
            </a:r>
            <a:r>
              <a:rPr lang="en-US" altLang="ko-KR" dirty="0"/>
              <a:t>: </a:t>
            </a:r>
            <a:r>
              <a:rPr lang="ko-KR" altLang="en-US" dirty="0"/>
              <a:t>심장혈관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호흡기계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 err="1"/>
              <a:t>림프계</a:t>
            </a:r>
            <a:endParaRPr lang="en-US" altLang="ko-KR" dirty="0"/>
          </a:p>
          <a:p>
            <a:r>
              <a:rPr lang="ko-KR" altLang="en-US" dirty="0"/>
              <a:t>에너지</a:t>
            </a:r>
            <a:r>
              <a:rPr lang="en-US" altLang="ko-KR" dirty="0"/>
              <a:t>.</a:t>
            </a:r>
            <a:r>
              <a:rPr lang="ko-KR" altLang="en-US" dirty="0"/>
              <a:t>대사</a:t>
            </a:r>
            <a:r>
              <a:rPr lang="en-US" altLang="ko-KR" dirty="0"/>
              <a:t>: </a:t>
            </a:r>
            <a:r>
              <a:rPr lang="ko-KR" altLang="en-US" dirty="0"/>
              <a:t>소화기계</a:t>
            </a:r>
            <a:r>
              <a:rPr lang="en-US" altLang="ko-KR" dirty="0"/>
              <a:t>, </a:t>
            </a:r>
            <a:r>
              <a:rPr lang="ko-KR" altLang="en-US" dirty="0"/>
              <a:t>간</a:t>
            </a:r>
            <a:r>
              <a:rPr lang="en-US" altLang="ko-KR" dirty="0"/>
              <a:t>.</a:t>
            </a:r>
            <a:r>
              <a:rPr lang="ko-KR" altLang="en-US" dirty="0" err="1"/>
              <a:t>대사계</a:t>
            </a:r>
            <a:endParaRPr lang="en-US" altLang="ko-KR" dirty="0"/>
          </a:p>
          <a:p>
            <a:r>
              <a:rPr lang="ko-KR" altLang="en-US" dirty="0"/>
              <a:t>방어</a:t>
            </a:r>
            <a:r>
              <a:rPr lang="en-US" altLang="ko-KR" dirty="0"/>
              <a:t>.</a:t>
            </a:r>
            <a:r>
              <a:rPr lang="ko-KR" altLang="en-US" dirty="0"/>
              <a:t>보호</a:t>
            </a:r>
            <a:r>
              <a:rPr lang="en-US" altLang="ko-KR" dirty="0"/>
              <a:t>: </a:t>
            </a:r>
            <a:r>
              <a:rPr lang="ko-KR" altLang="en-US" dirty="0"/>
              <a:t>면역</a:t>
            </a:r>
            <a:r>
              <a:rPr lang="en-US" altLang="ko-KR" dirty="0"/>
              <a:t>, </a:t>
            </a:r>
            <a:r>
              <a:rPr lang="ko-KR" altLang="en-US" dirty="0" err="1"/>
              <a:t>피부계</a:t>
            </a:r>
            <a:r>
              <a:rPr lang="en-US" altLang="ko-KR" dirty="0"/>
              <a:t>(</a:t>
            </a:r>
            <a:r>
              <a:rPr lang="ko-KR" altLang="en-US" dirty="0" err="1"/>
              <a:t>외피계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운동</a:t>
            </a:r>
            <a:r>
              <a:rPr lang="en-US" altLang="ko-KR" dirty="0"/>
              <a:t>.</a:t>
            </a:r>
            <a:r>
              <a:rPr lang="ko-KR" altLang="en-US" dirty="0"/>
              <a:t>구조</a:t>
            </a:r>
            <a:r>
              <a:rPr lang="en-US" altLang="ko-KR" dirty="0"/>
              <a:t>: </a:t>
            </a:r>
            <a:r>
              <a:rPr lang="ko-KR" altLang="en-US" dirty="0"/>
              <a:t>근육</a:t>
            </a:r>
            <a:r>
              <a:rPr lang="en-US" altLang="ko-KR" dirty="0"/>
              <a:t>, </a:t>
            </a:r>
            <a:r>
              <a:rPr lang="ko-KR" altLang="en-US" dirty="0"/>
              <a:t>골격</a:t>
            </a:r>
            <a:endParaRPr lang="en-US" altLang="ko-KR" dirty="0"/>
          </a:p>
          <a:p>
            <a:r>
              <a:rPr lang="ko-KR" altLang="en-US" dirty="0"/>
              <a:t>감각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FF0000"/>
                </a:solidFill>
              </a:rPr>
              <a:t>시각</a:t>
            </a:r>
            <a:r>
              <a:rPr lang="en-US" altLang="ko-KR" dirty="0"/>
              <a:t>, </a:t>
            </a:r>
            <a:r>
              <a:rPr lang="ko-KR" altLang="en-US" dirty="0"/>
              <a:t>청각</a:t>
            </a:r>
            <a:r>
              <a:rPr lang="en-US" altLang="ko-KR" dirty="0"/>
              <a:t>, </a:t>
            </a:r>
            <a:r>
              <a:rPr lang="ko-KR" altLang="en-US" dirty="0"/>
              <a:t>후각</a:t>
            </a:r>
            <a:r>
              <a:rPr lang="en-US" altLang="ko-KR" dirty="0"/>
              <a:t>, </a:t>
            </a:r>
            <a:r>
              <a:rPr lang="ko-KR" altLang="en-US" dirty="0"/>
              <a:t>미각</a:t>
            </a:r>
            <a:r>
              <a:rPr lang="en-US" altLang="ko-KR" dirty="0"/>
              <a:t>, </a:t>
            </a:r>
            <a:r>
              <a:rPr lang="ko-KR" altLang="en-US" dirty="0"/>
              <a:t>촉각</a:t>
            </a:r>
            <a:endParaRPr lang="en-US" altLang="ko-KR" dirty="0"/>
          </a:p>
          <a:p>
            <a:r>
              <a:rPr lang="ko-KR" altLang="en-US" dirty="0"/>
              <a:t>생명연속</a:t>
            </a:r>
            <a:r>
              <a:rPr lang="en-US" altLang="ko-KR" dirty="0"/>
              <a:t>: </a:t>
            </a:r>
            <a:r>
              <a:rPr lang="ko-KR" altLang="en-US" dirty="0" err="1"/>
              <a:t>생식계</a:t>
            </a:r>
            <a:endParaRPr lang="en-US" altLang="ko-KR" dirty="0"/>
          </a:p>
          <a:p>
            <a:r>
              <a:rPr lang="ko-KR" altLang="en-US" dirty="0"/>
              <a:t>유전</a:t>
            </a:r>
            <a:r>
              <a:rPr lang="en-US" altLang="ko-KR" dirty="0"/>
              <a:t>.</a:t>
            </a:r>
            <a:r>
              <a:rPr lang="ko-KR" altLang="en-US" dirty="0"/>
              <a:t>설계</a:t>
            </a:r>
            <a:r>
              <a:rPr lang="en-US" altLang="ko-KR" dirty="0"/>
              <a:t>: DNA</a:t>
            </a:r>
          </a:p>
          <a:p>
            <a:r>
              <a:rPr lang="ko-KR" altLang="en-US" dirty="0"/>
              <a:t>정서</a:t>
            </a:r>
            <a:r>
              <a:rPr lang="en-US" altLang="ko-KR" dirty="0"/>
              <a:t>.</a:t>
            </a:r>
            <a:r>
              <a:rPr lang="ko-KR" altLang="en-US" dirty="0"/>
              <a:t>관계</a:t>
            </a:r>
            <a:r>
              <a:rPr lang="en-US" altLang="ko-KR" dirty="0"/>
              <a:t>: </a:t>
            </a:r>
            <a:r>
              <a:rPr lang="ko-KR" altLang="en-US" dirty="0"/>
              <a:t>감정</a:t>
            </a:r>
            <a:r>
              <a:rPr lang="en-US" altLang="ko-KR" dirty="0"/>
              <a:t>, </a:t>
            </a:r>
            <a:r>
              <a:rPr lang="ko-KR" altLang="en-US" dirty="0"/>
              <a:t>자아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양심</a:t>
            </a:r>
            <a:r>
              <a:rPr lang="en-US" altLang="ko-KR" dirty="0"/>
              <a:t>,</a:t>
            </a:r>
            <a:r>
              <a:rPr lang="ko-KR" altLang="en-US" dirty="0"/>
              <a:t> 책임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39CA2B-5080-43F5-B4C3-1C7D2F4D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741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3E89B-B9FE-4DE1-87F9-D02D8617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인류의 발견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2D3A01-FF26-4366-8440-D4AB51EFD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불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: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00B0F0"/>
                </a:solidFill>
                <a:effectLst/>
                <a:latin typeface="-apple-system"/>
              </a:rPr>
              <a:t>생존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요리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난방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공동체의 시작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문자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: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기억의 </a:t>
            </a:r>
            <a:r>
              <a:rPr lang="ko-KR" altLang="en-US" b="0" i="0" dirty="0">
                <a:solidFill>
                  <a:srgbClr val="00B0F0"/>
                </a:solidFill>
                <a:effectLst/>
                <a:latin typeface="-apple-system"/>
              </a:rPr>
              <a:t>저장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역사와 문명의 시작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전기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빛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·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통신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·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산업의 기반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00B0F0"/>
                </a:solidFill>
                <a:effectLst/>
                <a:latin typeface="-apple-system"/>
              </a:rPr>
              <a:t>현대 문명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의 토대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미생물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세균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)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의학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·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위생 혁명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평균 </a:t>
            </a:r>
            <a:r>
              <a:rPr lang="ko-KR" altLang="en-US" b="0" i="0" dirty="0">
                <a:solidFill>
                  <a:srgbClr val="00B0F0"/>
                </a:solidFill>
                <a:effectLst/>
                <a:latin typeface="-apple-system"/>
              </a:rPr>
              <a:t>수명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 연장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중력 법칙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자연 법칙 이해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과학적 사고의 출발</a:t>
            </a:r>
          </a:p>
          <a:p>
            <a:pPr algn="l">
              <a:buFont typeface="+mj-lt"/>
              <a:buAutoNum type="arabicPeriod"/>
            </a:pP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DNA 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구조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생명의 설계도 이해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</a:t>
            </a:r>
            <a:r>
              <a:rPr lang="ko-KR" altLang="en-US" b="0" i="0" dirty="0">
                <a:solidFill>
                  <a:srgbClr val="00B0F0"/>
                </a:solidFill>
                <a:effectLst/>
                <a:latin typeface="-apple-system"/>
              </a:rPr>
              <a:t>생명과학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의 전환점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우주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지구의 위치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)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지구 중심 사고 탈피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인류 세계관의 변화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2AEDC-AA91-45BC-A2F5-EE26CD770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31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4122B-ECC4-478E-9472-FCE02A36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인류의 발명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B1DF7E-FA0E-40A9-9A87-7E1C48917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바퀴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이동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·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운송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·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교역의 혁명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문자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지식의 체계화와 교육의 시작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인쇄술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지식의 대중화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교육과 민주주의 확산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산업기계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인간 노동력의 확장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산업혁명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전구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·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전력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밤의 정복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도시 문명 형성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컴퓨터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정보 처리의 혁명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디지털 사회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인공지능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–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사고를 보조하는 도구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00B0F0"/>
                </a:solidFill>
                <a:effectLst/>
                <a:latin typeface="-apple-system"/>
              </a:rPr>
              <a:t>새로운 문명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단계의 문턱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F986F1-3300-482E-A54C-1D5DD43B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47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창의적 대한민국</a:t>
            </a:r>
            <a:r>
              <a:rPr lang="en-US" altLang="ko-KR" sz="2800" dirty="0"/>
              <a:t>: </a:t>
            </a:r>
            <a:r>
              <a:rPr lang="ko-KR" altLang="en-US" sz="2800" dirty="0"/>
              <a:t>우리나라 발명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89F18E8-610F-994D-FD0D-75A237378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7030A0"/>
                </a:solidFill>
              </a:rPr>
              <a:t>훈민정음</a:t>
            </a:r>
            <a:endParaRPr lang="en-US" altLang="ko-KR" dirty="0">
              <a:solidFill>
                <a:srgbClr val="7030A0"/>
              </a:solidFill>
            </a:endParaRPr>
          </a:p>
          <a:p>
            <a:r>
              <a:rPr lang="ko-KR" altLang="en-US" dirty="0"/>
              <a:t>거북선</a:t>
            </a:r>
            <a:endParaRPr lang="en-US" altLang="ko-KR" dirty="0"/>
          </a:p>
          <a:p>
            <a:r>
              <a:rPr lang="ko-KR" altLang="en-US" dirty="0"/>
              <a:t>금속활자</a:t>
            </a:r>
            <a:endParaRPr lang="en-US" altLang="ko-KR" dirty="0"/>
          </a:p>
          <a:p>
            <a:r>
              <a:rPr lang="ko-KR" altLang="en-US" dirty="0"/>
              <a:t>첨성대</a:t>
            </a:r>
            <a:r>
              <a:rPr lang="en-US" altLang="ko-KR" dirty="0"/>
              <a:t>, </a:t>
            </a:r>
            <a:r>
              <a:rPr lang="ko-KR" altLang="en-US" dirty="0"/>
              <a:t>측우기</a:t>
            </a:r>
            <a:r>
              <a:rPr lang="en-US" altLang="ko-KR" dirty="0"/>
              <a:t>, </a:t>
            </a:r>
            <a:r>
              <a:rPr lang="ko-KR" altLang="en-US" dirty="0"/>
              <a:t>해시계</a:t>
            </a:r>
            <a:endParaRPr lang="en-US" altLang="ko-KR" dirty="0"/>
          </a:p>
          <a:p>
            <a:r>
              <a:rPr lang="ko-KR" altLang="en-US" dirty="0">
                <a:solidFill>
                  <a:srgbClr val="7030A0"/>
                </a:solidFill>
              </a:rPr>
              <a:t>온돌</a:t>
            </a:r>
            <a:r>
              <a:rPr lang="en-US" altLang="ko-KR" dirty="0"/>
              <a:t>, </a:t>
            </a:r>
            <a:r>
              <a:rPr lang="ko-KR" altLang="en-US" dirty="0"/>
              <a:t>한지</a:t>
            </a:r>
            <a:endParaRPr lang="en-US" altLang="ko-KR" dirty="0"/>
          </a:p>
          <a:p>
            <a:r>
              <a:rPr lang="ko-KR" altLang="en-US" dirty="0"/>
              <a:t>화포</a:t>
            </a:r>
            <a:r>
              <a:rPr lang="en-US" altLang="ko-KR" dirty="0"/>
              <a:t>(</a:t>
            </a:r>
            <a:r>
              <a:rPr lang="ko-KR" altLang="en-US" dirty="0"/>
              <a:t>미사일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천지인 한글자판</a:t>
            </a:r>
            <a:endParaRPr lang="en-US" altLang="ko-KR" dirty="0"/>
          </a:p>
          <a:p>
            <a:r>
              <a:rPr lang="ko-KR" altLang="en-US" dirty="0"/>
              <a:t>이태리타월</a:t>
            </a:r>
            <a:r>
              <a:rPr lang="en-US" altLang="ko-KR" dirty="0"/>
              <a:t>,</a:t>
            </a:r>
            <a:r>
              <a:rPr lang="ko-KR" altLang="en-US" dirty="0"/>
              <a:t>김치냉장고</a:t>
            </a:r>
            <a:endParaRPr lang="en-US" altLang="ko-KR" dirty="0"/>
          </a:p>
          <a:p>
            <a:r>
              <a:rPr lang="ko-KR" altLang="en-US" dirty="0"/>
              <a:t>커피믹스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855A7-4B65-4803-80C9-DC39DD8E8CD7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1988840"/>
            <a:ext cx="317182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7064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60E0B-E781-4FFD-8F0C-39375D7D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자랑스런 대한 민국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7B90F3-5AD4-4748-993D-54AEEB52B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해방 후 </a:t>
            </a:r>
            <a:r>
              <a:rPr lang="en-US" altLang="ko-KR" dirty="0"/>
              <a:t>3</a:t>
            </a:r>
            <a:r>
              <a:rPr lang="ko-KR" altLang="en-US" dirty="0"/>
              <a:t>대 빈국</a:t>
            </a:r>
            <a:endParaRPr lang="en-US" altLang="ko-KR" dirty="0"/>
          </a:p>
          <a:p>
            <a:r>
              <a:rPr lang="en-US" altLang="ko-KR" dirty="0"/>
              <a:t>1961</a:t>
            </a:r>
            <a:r>
              <a:rPr lang="ko-KR" altLang="en-US" dirty="0"/>
              <a:t>년 국민 소득</a:t>
            </a:r>
            <a:r>
              <a:rPr lang="en-US" altLang="ko-KR" dirty="0"/>
              <a:t>(GNP:$82)</a:t>
            </a:r>
          </a:p>
          <a:p>
            <a:r>
              <a:rPr lang="ko-KR" altLang="en-US" dirty="0"/>
              <a:t>경제</a:t>
            </a:r>
            <a:r>
              <a:rPr lang="en-US" altLang="ko-KR" dirty="0"/>
              <a:t>, </a:t>
            </a:r>
            <a:r>
              <a:rPr lang="ko-KR" altLang="en-US" dirty="0"/>
              <a:t>국방</a:t>
            </a:r>
            <a:r>
              <a:rPr lang="en-US" altLang="ko-KR" dirty="0"/>
              <a:t>, K </a:t>
            </a:r>
            <a:r>
              <a:rPr lang="ko-KR" altLang="en-US" dirty="0"/>
              <a:t>문화</a:t>
            </a:r>
            <a:endParaRPr lang="en-US" altLang="ko-KR" dirty="0"/>
          </a:p>
          <a:p>
            <a:r>
              <a:rPr lang="ko-KR" altLang="en-US" dirty="0"/>
              <a:t>한강의 기적에서 한반도의 기적 </a:t>
            </a:r>
            <a:r>
              <a:rPr lang="en-US" altLang="ko-KR" dirty="0"/>
              <a:t>(</a:t>
            </a:r>
            <a:r>
              <a:rPr lang="ko-KR" altLang="en-US" dirty="0"/>
              <a:t>남</a:t>
            </a:r>
            <a:r>
              <a:rPr lang="en-US" altLang="ko-KR" dirty="0"/>
              <a:t>:</a:t>
            </a:r>
            <a:r>
              <a:rPr lang="ko-KR" altLang="en-US" dirty="0"/>
              <a:t>북 </a:t>
            </a:r>
            <a:r>
              <a:rPr lang="en-US" altLang="ko-KR" dirty="0"/>
              <a:t>60</a:t>
            </a:r>
            <a:r>
              <a:rPr lang="ko-KR" altLang="en-US" dirty="0"/>
              <a:t>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미래를 포기하지 않았던 </a:t>
            </a:r>
            <a:r>
              <a:rPr lang="ko-KR" altLang="en-US" dirty="0">
                <a:solidFill>
                  <a:srgbClr val="FF0000"/>
                </a:solidFill>
              </a:rPr>
              <a:t>교육의 열정</a:t>
            </a:r>
          </a:p>
          <a:p>
            <a:r>
              <a:rPr lang="ko-KR" altLang="en-US" dirty="0"/>
              <a:t>세계에 도전한 </a:t>
            </a:r>
            <a:r>
              <a:rPr lang="ko-KR" altLang="en-US" dirty="0">
                <a:solidFill>
                  <a:srgbClr val="FF0000"/>
                </a:solidFill>
              </a:rPr>
              <a:t>산업화</a:t>
            </a:r>
            <a:r>
              <a:rPr lang="ko-KR" altLang="en-US" dirty="0"/>
              <a:t>의 용기</a:t>
            </a:r>
          </a:p>
          <a:p>
            <a:r>
              <a:rPr lang="ko-KR" altLang="en-US" dirty="0"/>
              <a:t>나라를 지킨 </a:t>
            </a:r>
            <a:r>
              <a:rPr lang="ko-KR" altLang="en-US" dirty="0">
                <a:solidFill>
                  <a:srgbClr val="FF0000"/>
                </a:solidFill>
              </a:rPr>
              <a:t>안보</a:t>
            </a:r>
            <a:r>
              <a:rPr lang="ko-KR" altLang="en-US" dirty="0"/>
              <a:t>의 의지</a:t>
            </a:r>
          </a:p>
          <a:p>
            <a:r>
              <a:rPr lang="ko-KR" altLang="en-US" dirty="0"/>
              <a:t>실패를 두려워하지 않은 </a:t>
            </a:r>
            <a:r>
              <a:rPr lang="ko-KR" altLang="en-US" dirty="0">
                <a:solidFill>
                  <a:srgbClr val="FF0000"/>
                </a:solidFill>
              </a:rPr>
              <a:t>도전 정신</a:t>
            </a:r>
          </a:p>
          <a:p>
            <a:r>
              <a:rPr lang="ko-KR" altLang="en-US" dirty="0"/>
              <a:t>세계를 울린 </a:t>
            </a:r>
            <a:r>
              <a:rPr lang="ko-KR" altLang="en-US" dirty="0">
                <a:solidFill>
                  <a:srgbClr val="FF0000"/>
                </a:solidFill>
              </a:rPr>
              <a:t>문화</a:t>
            </a:r>
            <a:r>
              <a:rPr lang="ko-KR" altLang="en-US" dirty="0"/>
              <a:t>의 저력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7E0DF-AD61-43C2-8E19-BF435E12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438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A73E3-31A7-4165-807D-47CB0DC65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산업혁명과 퀴즈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6D0007-9BD5-4946-A9A6-E2362692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차 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동력의 혁명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):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말보다 강한 기계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'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물리적 한계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’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없어짐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차 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속도의 혁명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):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전기로 공장은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24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시간 돌아갔고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'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대중 소비 시대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’</a:t>
            </a: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차 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공간의 혁명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):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컴퓨터와 인터넷이 연결되자 지구촌이라는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'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가상 공간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'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이 탄생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차 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판단의 혁명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):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이제 기계는 시키는 일만 하지 않고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'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스스로 생각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'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하기 시작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차 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(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-apple-system"/>
              </a:rPr>
              <a:t>가치의 혁명</a:t>
            </a:r>
            <a:r>
              <a:rPr lang="en-US" altLang="ko-KR" b="1" i="0" dirty="0">
                <a:solidFill>
                  <a:srgbClr val="1F2328"/>
                </a:solidFill>
                <a:effectLst/>
                <a:latin typeface="-apple-system"/>
              </a:rPr>
              <a:t>):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 효율만 따지던 기계에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'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인간의 감성과 철학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'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을 불어넣는 시대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A4B7C1-87A2-42F9-A74B-10C178E0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785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CC191B1F-DBBF-4F62-BF42-D5879ABCE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556792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한국 세계 </a:t>
            </a:r>
            <a:r>
              <a:rPr lang="en-US" altLang="ko-KR" sz="2800" dirty="0"/>
              <a:t>1</a:t>
            </a:r>
            <a:r>
              <a:rPr lang="ko-KR" altLang="en-US" sz="2800" dirty="0"/>
              <a:t>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D-Ram(70%)</a:t>
            </a:r>
          </a:p>
          <a:p>
            <a:r>
              <a:rPr lang="en-US" altLang="ko-KR" dirty="0"/>
              <a:t>HBM(80%)</a:t>
            </a:r>
          </a:p>
          <a:p>
            <a:r>
              <a:rPr lang="en-US" altLang="ko-KR" dirty="0"/>
              <a:t>OLED(50%)</a:t>
            </a:r>
          </a:p>
          <a:p>
            <a:r>
              <a:rPr lang="ko-KR" altLang="en-US" dirty="0"/>
              <a:t>부탄가스</a:t>
            </a:r>
            <a:r>
              <a:rPr lang="en-US" altLang="ko-KR" dirty="0"/>
              <a:t>(90%)</a:t>
            </a:r>
          </a:p>
          <a:p>
            <a:r>
              <a:rPr lang="en-US" altLang="ko-KR" dirty="0"/>
              <a:t>LNG(86%)</a:t>
            </a:r>
          </a:p>
          <a:p>
            <a:r>
              <a:rPr lang="ko-KR" altLang="en-US" dirty="0"/>
              <a:t>바닷물정수</a:t>
            </a:r>
            <a:r>
              <a:rPr lang="en-US" altLang="ko-KR" dirty="0"/>
              <a:t>(</a:t>
            </a:r>
            <a:r>
              <a:rPr lang="ko-KR" altLang="en-US" dirty="0"/>
              <a:t>두산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K-</a:t>
            </a:r>
            <a:r>
              <a:rPr lang="ko-KR" altLang="en-US" dirty="0" err="1"/>
              <a:t>컬쳐</a:t>
            </a:r>
            <a:endParaRPr lang="en-US" altLang="ko-KR" dirty="0"/>
          </a:p>
          <a:p>
            <a:r>
              <a:rPr lang="ko-KR" altLang="en-US" dirty="0"/>
              <a:t>김</a:t>
            </a:r>
            <a:r>
              <a:rPr lang="en-US" altLang="ko-KR" dirty="0"/>
              <a:t>(70.6%),</a:t>
            </a:r>
            <a:r>
              <a:rPr lang="ko-KR" altLang="en-US" dirty="0"/>
              <a:t> 라면</a:t>
            </a:r>
            <a:r>
              <a:rPr lang="en-US" altLang="ko-KR" dirty="0"/>
              <a:t>,</a:t>
            </a:r>
            <a:r>
              <a:rPr lang="ko-KR" altLang="en-US" dirty="0"/>
              <a:t>화장품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855A7-4B65-4803-80C9-DC39DD8E8CD7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9174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IT</a:t>
            </a:r>
            <a:r>
              <a:rPr lang="ko-KR" altLang="en-US" dirty="0"/>
              <a:t>의 도약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1981 PC 640K</a:t>
            </a:r>
          </a:p>
          <a:p>
            <a:r>
              <a:rPr lang="en-US" altLang="ko-KR" dirty="0"/>
              <a:t>1990 </a:t>
            </a:r>
            <a:r>
              <a:rPr lang="ko-KR" altLang="en-US" dirty="0"/>
              <a:t>인터넷 </a:t>
            </a:r>
            <a:r>
              <a:rPr lang="en-US" altLang="ko-KR" dirty="0">
                <a:solidFill>
                  <a:srgbClr val="FF0000"/>
                </a:solidFill>
              </a:rPr>
              <a:t>&amp; WWW</a:t>
            </a:r>
          </a:p>
          <a:p>
            <a:r>
              <a:rPr lang="en-US" altLang="ko-KR" dirty="0"/>
              <a:t>1995 Window95</a:t>
            </a:r>
          </a:p>
          <a:p>
            <a:r>
              <a:rPr lang="en-US" altLang="ko-KR" dirty="0"/>
              <a:t>2007 </a:t>
            </a:r>
            <a:r>
              <a:rPr lang="en-US" altLang="ko-KR" dirty="0">
                <a:solidFill>
                  <a:srgbClr val="FF0000"/>
                </a:solidFill>
              </a:rPr>
              <a:t>Smart Phone</a:t>
            </a:r>
          </a:p>
          <a:p>
            <a:r>
              <a:rPr lang="en-US" altLang="ko-KR" dirty="0"/>
              <a:t>2012 </a:t>
            </a:r>
            <a:r>
              <a:rPr lang="ko-KR" altLang="en-US" dirty="0"/>
              <a:t>딥러닝</a:t>
            </a:r>
            <a:r>
              <a:rPr lang="en-US" altLang="ko-KR" dirty="0"/>
              <a:t>(</a:t>
            </a:r>
            <a:r>
              <a:rPr lang="en-US" altLang="ko-KR" dirty="0" err="1"/>
              <a:t>AlexNet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2016 </a:t>
            </a:r>
            <a:r>
              <a:rPr lang="ko-KR" altLang="en-US" dirty="0">
                <a:solidFill>
                  <a:srgbClr val="FF0000"/>
                </a:solidFill>
              </a:rPr>
              <a:t>알파고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2022 </a:t>
            </a:r>
            <a:r>
              <a:rPr lang="ko-KR" altLang="en-US" dirty="0"/>
              <a:t>생성형 </a:t>
            </a:r>
            <a:r>
              <a:rPr lang="en-US" altLang="ko-KR" dirty="0"/>
              <a:t>AI</a:t>
            </a:r>
          </a:p>
          <a:p>
            <a:r>
              <a:rPr lang="en-US" altLang="ko-KR" dirty="0"/>
              <a:t>2026 Agent AI</a:t>
            </a:r>
          </a:p>
          <a:p>
            <a:r>
              <a:rPr lang="en-US" altLang="ko-KR" dirty="0"/>
              <a:t>2030 </a:t>
            </a:r>
            <a:r>
              <a:rPr lang="en-US" altLang="ko-KR" dirty="0" err="1"/>
              <a:t>Human+AI</a:t>
            </a:r>
            <a:endParaRPr lang="ko-KR" altLang="en-US" dirty="0"/>
          </a:p>
        </p:txBody>
      </p:sp>
      <p:sp>
        <p:nvSpPr>
          <p:cNvPr id="11266" name="AutoShape 2" descr="it world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68" name="AutoShape 4" descr="it world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70" name="AutoShape 6" descr="it world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72" name="AutoShape 8" descr="it world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079855"/>
            <a:ext cx="3340140" cy="238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93FC2CC-B387-B5D9-DEC8-76C5C8098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368" y="3503066"/>
            <a:ext cx="480060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3CE4F-9B85-40F2-9DC6-ABB29FF7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미래 </a:t>
            </a:r>
            <a:r>
              <a:rPr lang="en-US" altLang="ko-KR" dirty="0"/>
              <a:t>(</a:t>
            </a:r>
            <a:r>
              <a:rPr lang="ko-KR" altLang="en-US" dirty="0"/>
              <a:t>사람 중심 </a:t>
            </a:r>
            <a:r>
              <a:rPr lang="en-US" altLang="ko-KR" dirty="0"/>
              <a:t>AI </a:t>
            </a:r>
            <a:r>
              <a:rPr lang="ko-KR" altLang="en-US" dirty="0"/>
              <a:t>플랫폼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2E3AC8-16B1-4767-A394-D3AF6FEE2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기술이 아니라 ‘사람을 보호하는 </a:t>
            </a:r>
            <a:r>
              <a:rPr lang="en-US" altLang="ko-KR" dirty="0"/>
              <a:t>AI </a:t>
            </a:r>
            <a:r>
              <a:rPr lang="ko-KR" altLang="en-US" dirty="0"/>
              <a:t>체계’</a:t>
            </a:r>
          </a:p>
          <a:p>
            <a:r>
              <a:rPr lang="ko-KR" altLang="en-US" dirty="0"/>
              <a:t>노인</a:t>
            </a:r>
            <a:r>
              <a:rPr lang="en-US" altLang="ko-KR" dirty="0"/>
              <a:t>·</a:t>
            </a:r>
            <a:r>
              <a:rPr lang="ko-KR" altLang="en-US" dirty="0"/>
              <a:t>어르신 맞춤형 </a:t>
            </a:r>
            <a:r>
              <a:rPr lang="en-US" altLang="ko-KR" dirty="0"/>
              <a:t>AI</a:t>
            </a:r>
          </a:p>
          <a:p>
            <a:r>
              <a:rPr lang="ko-KR" altLang="en-US" dirty="0"/>
              <a:t>디지털 소외계층을 돕는 음성 기반 </a:t>
            </a:r>
            <a:r>
              <a:rPr lang="en-US" altLang="ko-KR" dirty="0"/>
              <a:t>AI</a:t>
            </a:r>
          </a:p>
          <a:p>
            <a:endParaRPr lang="en-US" altLang="ko-KR" dirty="0">
              <a:solidFill>
                <a:srgbClr val="00B0F0"/>
              </a:solidFill>
            </a:endParaRPr>
          </a:p>
          <a:p>
            <a:r>
              <a:rPr lang="ko-KR" altLang="en-US" dirty="0">
                <a:solidFill>
                  <a:srgbClr val="00B0F0"/>
                </a:solidFill>
              </a:rPr>
              <a:t>지역 공동체 중심</a:t>
            </a:r>
            <a:r>
              <a:rPr lang="en-US" altLang="ko-KR" dirty="0">
                <a:solidFill>
                  <a:srgbClr val="00B0F0"/>
                </a:solidFill>
              </a:rPr>
              <a:t> (</a:t>
            </a:r>
            <a:r>
              <a:rPr lang="ko-KR" altLang="en-US" dirty="0">
                <a:solidFill>
                  <a:srgbClr val="00B0F0"/>
                </a:solidFill>
              </a:rPr>
              <a:t>지속가능발전</a:t>
            </a:r>
            <a:r>
              <a:rPr lang="en-US" altLang="ko-KR" dirty="0">
                <a:solidFill>
                  <a:srgbClr val="00B0F0"/>
                </a:solidFill>
              </a:rPr>
              <a:t>)</a:t>
            </a:r>
            <a:r>
              <a:rPr lang="ko-KR" altLang="en-US" dirty="0">
                <a:solidFill>
                  <a:srgbClr val="00B0F0"/>
                </a:solidFill>
              </a:rPr>
              <a:t> </a:t>
            </a:r>
            <a:r>
              <a:rPr lang="en-US" altLang="ko-KR" dirty="0">
                <a:solidFill>
                  <a:srgbClr val="00B0F0"/>
                </a:solidFill>
              </a:rPr>
              <a:t>AI</a:t>
            </a:r>
          </a:p>
          <a:p>
            <a:pPr marL="0" indent="0">
              <a:buNone/>
            </a:pPr>
            <a:r>
              <a:rPr lang="ko-KR" altLang="en-US" dirty="0"/>
              <a:t>👉 훈민정음이 “백성을 위한 </a:t>
            </a:r>
            <a:r>
              <a:rPr lang="ko-KR" altLang="en-US" dirty="0" err="1"/>
              <a:t>문자”였다면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      </a:t>
            </a:r>
            <a:r>
              <a:rPr lang="ko-KR" altLang="en-US" dirty="0"/>
              <a:t>다음 발명은 “시민을 위한 </a:t>
            </a:r>
            <a:r>
              <a:rPr lang="en-US" altLang="ko-KR" dirty="0"/>
              <a:t>AI”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D393FF-82EB-4CFC-BF75-118B85D6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9484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통신의 발전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유선 전화기</a:t>
            </a:r>
            <a:endParaRPr lang="en-US" altLang="ko-KR" dirty="0"/>
          </a:p>
          <a:p>
            <a:r>
              <a:rPr lang="en-US" altLang="ko-KR" dirty="0"/>
              <a:t>2G, 3G, LTE, 4G, 5G, 6G</a:t>
            </a:r>
          </a:p>
          <a:p>
            <a:r>
              <a:rPr lang="ko-KR" altLang="en-US" dirty="0"/>
              <a:t>근거리</a:t>
            </a:r>
            <a:r>
              <a:rPr lang="en-US" altLang="ko-KR" dirty="0"/>
              <a:t>: </a:t>
            </a:r>
          </a:p>
          <a:p>
            <a:pPr lvl="1"/>
            <a:r>
              <a:rPr lang="en-US" altLang="ko-KR" dirty="0"/>
              <a:t>NFC</a:t>
            </a:r>
          </a:p>
          <a:p>
            <a:pPr lvl="1"/>
            <a:r>
              <a:rPr lang="en-US" altLang="ko-KR" dirty="0"/>
              <a:t>WIFI </a:t>
            </a:r>
          </a:p>
          <a:p>
            <a:pPr lvl="1"/>
            <a:r>
              <a:rPr lang="en-US" altLang="ko-KR" dirty="0"/>
              <a:t>Bluetooth</a:t>
            </a:r>
          </a:p>
          <a:p>
            <a:pPr lvl="1"/>
            <a:r>
              <a:rPr lang="en-US" altLang="ko-KR" dirty="0"/>
              <a:t>Zigbee</a:t>
            </a:r>
          </a:p>
          <a:p>
            <a:r>
              <a:rPr lang="ko-KR" altLang="en-US" dirty="0"/>
              <a:t>원거리</a:t>
            </a:r>
            <a:endParaRPr lang="en-US" altLang="ko-KR" dirty="0"/>
          </a:p>
          <a:p>
            <a:pPr lvl="1"/>
            <a:r>
              <a:rPr lang="en-US" altLang="ko-KR" dirty="0"/>
              <a:t>Neural Link</a:t>
            </a:r>
          </a:p>
          <a:p>
            <a:pPr lvl="1"/>
            <a:r>
              <a:rPr lang="ko-KR" altLang="en-US" dirty="0"/>
              <a:t>위성통신</a:t>
            </a:r>
            <a:endParaRPr lang="en-US" altLang="ko-KR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2357437"/>
            <a:ext cx="21431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0112" y="2338121"/>
            <a:ext cx="1104900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Analog to Digital, SW / HW </a:t>
            </a:r>
            <a:r>
              <a:rPr lang="ko-KR" altLang="en-US" dirty="0"/>
              <a:t>소개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Kodak, </a:t>
            </a:r>
            <a:r>
              <a:rPr lang="en-US" altLang="ko-KR" dirty="0">
                <a:solidFill>
                  <a:srgbClr val="FF0000"/>
                </a:solidFill>
              </a:rPr>
              <a:t>Nokia</a:t>
            </a:r>
            <a:r>
              <a:rPr lang="en-US" altLang="ko-KR" dirty="0"/>
              <a:t>, Sharp, Toshiba</a:t>
            </a:r>
          </a:p>
          <a:p>
            <a:r>
              <a:rPr lang="en-US" altLang="ko-KR" dirty="0"/>
              <a:t>SW</a:t>
            </a:r>
          </a:p>
          <a:p>
            <a:pPr lvl="1"/>
            <a:r>
              <a:rPr lang="en-US" altLang="ko-KR" dirty="0"/>
              <a:t>Programming Language Ranking</a:t>
            </a:r>
          </a:p>
          <a:p>
            <a:pPr lvl="2"/>
            <a:r>
              <a:rPr lang="en-US" altLang="ko-KR" dirty="0"/>
              <a:t>Python</a:t>
            </a:r>
          </a:p>
          <a:p>
            <a:pPr lvl="2"/>
            <a:r>
              <a:rPr lang="en-US" altLang="ko-KR" dirty="0"/>
              <a:t>C &amp; C++</a:t>
            </a: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Java Script</a:t>
            </a:r>
          </a:p>
          <a:p>
            <a:r>
              <a:rPr lang="en-US" altLang="ko-KR" dirty="0"/>
              <a:t>HW</a:t>
            </a:r>
          </a:p>
          <a:p>
            <a:pPr lvl="1"/>
            <a:r>
              <a:rPr lang="en-US" altLang="ko-KR" dirty="0"/>
              <a:t>CPU, </a:t>
            </a:r>
            <a:r>
              <a:rPr lang="en-US" altLang="ko-KR" dirty="0">
                <a:solidFill>
                  <a:srgbClr val="FF0000"/>
                </a:solidFill>
              </a:rPr>
              <a:t>GPU</a:t>
            </a:r>
          </a:p>
          <a:p>
            <a:pPr lvl="1"/>
            <a:r>
              <a:rPr lang="en-US" altLang="ko-KR" dirty="0"/>
              <a:t>NPU, TPU</a:t>
            </a:r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HBM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2611009"/>
            <a:ext cx="4713685" cy="3410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무선통신</a:t>
            </a:r>
            <a:r>
              <a:rPr lang="en-US" altLang="ko-KR" dirty="0"/>
              <a:t>: 4G 5G 6G</a:t>
            </a:r>
            <a:endParaRPr lang="ko-KR" altLang="en-US" dirty="0"/>
          </a:p>
        </p:txBody>
      </p:sp>
      <p:pic>
        <p:nvPicPr>
          <p:cNvPr id="2050" name="Picture 2" descr="4G, 5G, 6G network comparison 스톡 벡터 | Adobe Stock">
            <a:extLst>
              <a:ext uri="{FF2B5EF4-FFF2-40B4-BE49-F238E27FC236}">
                <a16:creationId xmlns:a16="http://schemas.microsoft.com/office/drawing/2014/main" id="{26066A8D-ED64-48F6-A528-EAD8BAAFF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933056"/>
            <a:ext cx="4752528" cy="222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4G vs 5G vs 6G: Speed Comparison Explained, Discover How Mobile Networks  Are Rapidly Evolving - Amar Ujala">
            <a:extLst>
              <a:ext uri="{FF2B5EF4-FFF2-40B4-BE49-F238E27FC236}">
                <a16:creationId xmlns:a16="http://schemas.microsoft.com/office/drawing/2014/main" id="{22040A81-CE83-48AD-84F5-A242B780AD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64" y="1397247"/>
            <a:ext cx="4752528" cy="237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9057BC-9471-94E7-32D8-42EDAC6A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5G Speed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9E48BE-502D-714F-BD4A-7466941F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74F5E-124A-4470-B6E2-75066E9EF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EE3B181-D223-48A0-9A26-3EF62B57F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229600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350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4</a:t>
            </a:r>
            <a:r>
              <a:rPr lang="ko-KR" altLang="en-US" dirty="0" err="1"/>
              <a:t>차산업</a:t>
            </a:r>
            <a:r>
              <a:rPr lang="ko-KR" altLang="en-US" dirty="0"/>
              <a:t> 혁명</a:t>
            </a:r>
            <a:r>
              <a:rPr lang="en-US" altLang="ko-KR" dirty="0"/>
              <a:t>AI </a:t>
            </a:r>
            <a:r>
              <a:rPr lang="ko-KR" altLang="en-US" dirty="0"/>
              <a:t>도화선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알파고 </a:t>
            </a:r>
            <a:r>
              <a:rPr lang="en-US" altLang="ko-KR" dirty="0"/>
              <a:t>(2016)</a:t>
            </a:r>
          </a:p>
          <a:p>
            <a:pPr lvl="1"/>
            <a:r>
              <a:rPr lang="ko-KR" altLang="en-US" dirty="0"/>
              <a:t>알파제로</a:t>
            </a:r>
            <a:endParaRPr lang="en-US" altLang="ko-KR" dirty="0"/>
          </a:p>
          <a:p>
            <a:pPr lvl="1"/>
            <a:r>
              <a:rPr lang="ko-KR" altLang="en-US" dirty="0" err="1"/>
              <a:t>알파폴더</a:t>
            </a:r>
            <a:r>
              <a:rPr lang="en-US" altLang="ko-KR" dirty="0"/>
              <a:t>: </a:t>
            </a:r>
            <a:r>
              <a:rPr lang="ko-KR" altLang="en-US" dirty="0"/>
              <a:t>노벨상</a:t>
            </a:r>
            <a:r>
              <a:rPr lang="en-US" altLang="ko-KR" dirty="0"/>
              <a:t>(2025)</a:t>
            </a:r>
          </a:p>
          <a:p>
            <a:r>
              <a:rPr lang="en-US" altLang="ko-KR" dirty="0"/>
              <a:t>LLM</a:t>
            </a:r>
          </a:p>
          <a:p>
            <a:pPr lvl="1"/>
            <a:r>
              <a:rPr lang="en-US" altLang="ko-KR" dirty="0" err="1"/>
              <a:t>ChatGPT</a:t>
            </a:r>
            <a:r>
              <a:rPr lang="en-US" altLang="ko-KR" dirty="0"/>
              <a:t>(</a:t>
            </a:r>
            <a:r>
              <a:rPr lang="en-US" altLang="ko-KR" dirty="0" err="1"/>
              <a:t>OpenAI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Gemini</a:t>
            </a:r>
          </a:p>
          <a:p>
            <a:r>
              <a:rPr lang="en-US" altLang="ko-KR" dirty="0"/>
              <a:t>MCP(2026)</a:t>
            </a:r>
          </a:p>
          <a:p>
            <a:r>
              <a:rPr lang="en-US" altLang="ko-KR" dirty="0"/>
              <a:t>AGI(2035??)</a:t>
            </a:r>
            <a:br>
              <a:rPr lang="en-US" altLang="ko-KR" dirty="0"/>
            </a:br>
            <a:r>
              <a:rPr lang="en-US" altLang="ko-KR" dirty="0"/>
              <a:t>  </a:t>
            </a:r>
          </a:p>
        </p:txBody>
      </p:sp>
      <p:sp>
        <p:nvSpPr>
          <p:cNvPr id="11266" name="AutoShape 2" descr="it world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68" name="AutoShape 4" descr="it world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70" name="AutoShape 6" descr="it world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72" name="AutoShape 8" descr="it world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0" name="Picture 2" descr="이세돌 vs 알파고] 제2국 알파고 '2승' (상보) : 동아사이언스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434330"/>
            <a:ext cx="3416226" cy="249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875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AE7C7-9256-4E9E-A0B5-F9DFFCD9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의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2FDE28-DB32-45D0-989B-29212AE0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4098" name="Picture 2" descr="제1장 생성형 인공지능의 이해 - 나 그리고 프롬프트, ChatGPT부터 시작하는 AI 활용법">
            <a:extLst>
              <a:ext uri="{FF2B5EF4-FFF2-40B4-BE49-F238E27FC236}">
                <a16:creationId xmlns:a16="http://schemas.microsoft.com/office/drawing/2014/main" id="{B8DA751F-E0C4-49BC-8718-DFE7B93FC7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73635"/>
            <a:ext cx="4752528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26EF19-9C8D-4418-BC66-64383E95B973}"/>
              </a:ext>
            </a:extLst>
          </p:cNvPr>
          <p:cNvSpPr txBox="1"/>
          <p:nvPr/>
        </p:nvSpPr>
        <p:spPr>
          <a:xfrm>
            <a:off x="5315056" y="3157041"/>
            <a:ext cx="36407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동해물과 </a:t>
            </a:r>
            <a:r>
              <a:rPr lang="en-US" altLang="ko-KR" sz="3200" dirty="0"/>
              <a:t>(      ) </a:t>
            </a:r>
            <a:r>
              <a:rPr lang="ko-KR" altLang="en-US" sz="3200" dirty="0"/>
              <a:t>이</a:t>
            </a:r>
            <a:endParaRPr lang="en-US" altLang="ko-KR" sz="3200" dirty="0"/>
          </a:p>
          <a:p>
            <a:endParaRPr lang="en-US" altLang="ko-KR" sz="3200" dirty="0"/>
          </a:p>
          <a:p>
            <a:r>
              <a:rPr lang="en-US" altLang="ko-KR" sz="3200" dirty="0"/>
              <a:t>Gemini </a:t>
            </a:r>
            <a:r>
              <a:rPr lang="ko-KR" altLang="en-US" sz="3200" dirty="0"/>
              <a:t>데모 </a:t>
            </a:r>
          </a:p>
        </p:txBody>
      </p:sp>
    </p:spTree>
    <p:extLst>
      <p:ext uri="{BB962C8B-B14F-4D97-AF65-F5344CB8AC3E}">
        <p14:creationId xmlns:p14="http://schemas.microsoft.com/office/powerpoint/2010/main" val="4101923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FC5693A-82B4-4182-AA6A-7C8FADB9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가 잘 하는 것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A40C187-3F43-49B9-96D6-273532FCD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대화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코딩</a:t>
            </a:r>
            <a:endParaRPr lang="en-US" altLang="ko-KR" dirty="0"/>
          </a:p>
          <a:p>
            <a:r>
              <a:rPr lang="ko-KR" altLang="en-US" dirty="0"/>
              <a:t>언어생성</a:t>
            </a:r>
            <a:r>
              <a:rPr lang="en-US" altLang="ko-KR" dirty="0"/>
              <a:t>(</a:t>
            </a:r>
            <a:r>
              <a:rPr lang="ko-KR" altLang="en-US" dirty="0"/>
              <a:t>글쓰기</a:t>
            </a:r>
            <a:r>
              <a:rPr lang="en-US" altLang="ko-KR" dirty="0"/>
              <a:t>, </a:t>
            </a:r>
            <a:r>
              <a:rPr lang="ko-KR" altLang="en-US" dirty="0"/>
              <a:t>번역</a:t>
            </a:r>
            <a:r>
              <a:rPr lang="en-US" altLang="ko-KR" dirty="0"/>
              <a:t>, </a:t>
            </a:r>
            <a:r>
              <a:rPr lang="ko-KR" altLang="en-US" dirty="0"/>
              <a:t>요약</a:t>
            </a:r>
            <a:r>
              <a:rPr lang="en-US" altLang="ko-KR" dirty="0"/>
              <a:t>, </a:t>
            </a:r>
            <a:r>
              <a:rPr lang="ko-KR" altLang="en-US" dirty="0"/>
              <a:t>질문 응답</a:t>
            </a:r>
            <a:r>
              <a:rPr lang="en-US" altLang="ko-KR" dirty="0"/>
              <a:t>)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그림</a:t>
            </a:r>
            <a:r>
              <a:rPr lang="en-US" altLang="ko-KR" dirty="0"/>
              <a:t>, </a:t>
            </a:r>
            <a:r>
              <a:rPr lang="ko-KR" altLang="en-US" dirty="0"/>
              <a:t>동영상</a:t>
            </a:r>
            <a:r>
              <a:rPr lang="en-US" altLang="ko-KR" dirty="0"/>
              <a:t>, </a:t>
            </a:r>
            <a:r>
              <a:rPr lang="ko-KR" altLang="en-US" dirty="0"/>
              <a:t>음악</a:t>
            </a:r>
            <a:endParaRPr lang="en-US" altLang="ko-KR" dirty="0"/>
          </a:p>
          <a:p>
            <a:r>
              <a:rPr lang="ko-KR" altLang="en-US" dirty="0"/>
              <a:t>빠른 계산</a:t>
            </a:r>
            <a:endParaRPr lang="en-US" altLang="ko-KR" dirty="0"/>
          </a:p>
          <a:p>
            <a:r>
              <a:rPr lang="ko-KR" altLang="en-US" dirty="0"/>
              <a:t>대량 데이터 처리</a:t>
            </a:r>
            <a:r>
              <a:rPr lang="en-US" altLang="ko-KR" dirty="0"/>
              <a:t>(</a:t>
            </a:r>
            <a:r>
              <a:rPr lang="ko-KR" altLang="en-US" dirty="0"/>
              <a:t>영상 판독</a:t>
            </a:r>
            <a:r>
              <a:rPr lang="en-US" altLang="ko-KR" dirty="0"/>
              <a:t>, </a:t>
            </a:r>
            <a:r>
              <a:rPr lang="ko-KR" altLang="en-US" dirty="0"/>
              <a:t>사기탐지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패턴 인식</a:t>
            </a:r>
            <a:r>
              <a:rPr lang="en-US" altLang="ko-KR" dirty="0"/>
              <a:t>(</a:t>
            </a:r>
            <a:r>
              <a:rPr lang="ko-KR" altLang="en-US" dirty="0"/>
              <a:t>얼굴</a:t>
            </a:r>
            <a:r>
              <a:rPr lang="en-US" altLang="ko-KR" dirty="0"/>
              <a:t>, </a:t>
            </a:r>
            <a:r>
              <a:rPr lang="ko-KR" altLang="en-US" dirty="0"/>
              <a:t>음성</a:t>
            </a:r>
            <a:r>
              <a:rPr lang="en-US" altLang="ko-KR" dirty="0"/>
              <a:t>, </a:t>
            </a:r>
            <a:r>
              <a:rPr lang="ko-KR" altLang="en-US" dirty="0"/>
              <a:t>글자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예측</a:t>
            </a:r>
            <a:r>
              <a:rPr lang="en-US" altLang="ko-KR" dirty="0"/>
              <a:t>(</a:t>
            </a:r>
            <a:r>
              <a:rPr lang="ko-KR" altLang="en-US" dirty="0"/>
              <a:t>날씨</a:t>
            </a:r>
            <a:r>
              <a:rPr lang="en-US" altLang="ko-KR" dirty="0"/>
              <a:t>, </a:t>
            </a:r>
            <a:r>
              <a:rPr lang="ko-KR" altLang="en-US" dirty="0"/>
              <a:t>소비 패턴</a:t>
            </a:r>
            <a:r>
              <a:rPr lang="en-US" altLang="ko-KR" dirty="0"/>
              <a:t>, </a:t>
            </a:r>
            <a:r>
              <a:rPr lang="ko-KR" altLang="en-US" dirty="0"/>
              <a:t>주가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반복 작업 자동화</a:t>
            </a:r>
            <a:r>
              <a:rPr lang="en-US" altLang="ko-KR" dirty="0"/>
              <a:t>(</a:t>
            </a:r>
            <a:r>
              <a:rPr lang="ko-KR" altLang="en-US" dirty="0"/>
              <a:t>고객 대응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쉬지 않고 일하기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2034D6-9AD8-46EC-8A96-B7F21179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20</a:t>
            </a:fld>
            <a:endParaRPr lang="ko-KR" altLang="en-US"/>
          </a:p>
        </p:txBody>
      </p:sp>
      <p:pic>
        <p:nvPicPr>
          <p:cNvPr id="8" name="Picture 6" descr="인공지능(AI)이 그린 그림도 예술 작품일까 : 네이버 블로그">
            <a:extLst>
              <a:ext uri="{FF2B5EF4-FFF2-40B4-BE49-F238E27FC236}">
                <a16:creationId xmlns:a16="http://schemas.microsoft.com/office/drawing/2014/main" id="{B3BDE19C-97ED-4BCC-AA41-014656533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575" y="4109612"/>
            <a:ext cx="3165849" cy="205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654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9C759-201D-4473-BA1E-18F04D99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가 못하는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D4C9C1-33AA-4D8B-B429-4A98538D6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느끼는 것</a:t>
            </a:r>
            <a:endParaRPr lang="en-US" altLang="ko-KR" dirty="0"/>
          </a:p>
          <a:p>
            <a:r>
              <a:rPr lang="ko-KR" altLang="en-US" dirty="0"/>
              <a:t>도덕적 책임</a:t>
            </a:r>
            <a:endParaRPr lang="en-US" altLang="ko-KR" dirty="0"/>
          </a:p>
          <a:p>
            <a:r>
              <a:rPr lang="ko-KR" altLang="en-US" dirty="0"/>
              <a:t>상호적 관계형성</a:t>
            </a:r>
            <a:endParaRPr lang="en-US" altLang="ko-KR" dirty="0"/>
          </a:p>
          <a:p>
            <a:pPr lvl="1"/>
            <a:r>
              <a:rPr lang="ko-KR" altLang="en-US" sz="2800" dirty="0"/>
              <a:t>양심</a:t>
            </a:r>
            <a:r>
              <a:rPr lang="en-US" altLang="ko-KR" sz="2800" dirty="0"/>
              <a:t>, </a:t>
            </a:r>
            <a:r>
              <a:rPr lang="ko-KR" altLang="en-US" sz="2800" dirty="0"/>
              <a:t>사랑</a:t>
            </a:r>
            <a:r>
              <a:rPr lang="en-US" altLang="ko-KR" sz="2800" dirty="0"/>
              <a:t>, </a:t>
            </a:r>
            <a:r>
              <a:rPr lang="ko-KR" altLang="en-US" sz="2800" dirty="0"/>
              <a:t>상처</a:t>
            </a:r>
            <a:r>
              <a:rPr lang="en-US" altLang="ko-KR" sz="2800" dirty="0"/>
              <a:t>, </a:t>
            </a:r>
            <a:r>
              <a:rPr lang="ko-KR" altLang="en-US" sz="2800" dirty="0"/>
              <a:t>배신</a:t>
            </a:r>
            <a:endParaRPr lang="en-US" altLang="ko-KR" sz="2800" dirty="0"/>
          </a:p>
          <a:p>
            <a:r>
              <a:rPr lang="ko-KR" altLang="en-US" dirty="0"/>
              <a:t>자기 존재 자각</a:t>
            </a:r>
            <a:endParaRPr lang="en-US" altLang="ko-KR" dirty="0"/>
          </a:p>
          <a:p>
            <a:r>
              <a:rPr lang="ko-KR" altLang="en-US" dirty="0"/>
              <a:t>정서적 공감</a:t>
            </a:r>
            <a:endParaRPr lang="en-US" altLang="ko-KR" dirty="0"/>
          </a:p>
          <a:p>
            <a:r>
              <a:rPr lang="en-US" altLang="ko-KR" dirty="0">
                <a:solidFill>
                  <a:srgbClr val="00B0F0"/>
                </a:solidFill>
              </a:rPr>
              <a:t>AI</a:t>
            </a:r>
            <a:r>
              <a:rPr lang="ko-KR" altLang="en-US" dirty="0">
                <a:solidFill>
                  <a:srgbClr val="00B0F0"/>
                </a:solidFill>
              </a:rPr>
              <a:t>는 생각을 흉내 낼 수 있지만</a:t>
            </a:r>
            <a:r>
              <a:rPr lang="en-US" altLang="ko-KR" dirty="0">
                <a:solidFill>
                  <a:srgbClr val="00B0F0"/>
                </a:solidFill>
              </a:rPr>
              <a:t>, </a:t>
            </a:r>
            <a:r>
              <a:rPr lang="ko-KR" altLang="en-US" b="1" dirty="0">
                <a:solidFill>
                  <a:srgbClr val="00B0F0"/>
                </a:solidFill>
              </a:rPr>
              <a:t>존재를 살아낼 수는 없습니다</a:t>
            </a:r>
            <a:r>
              <a:rPr lang="en-US" altLang="ko-KR" b="1" dirty="0">
                <a:solidFill>
                  <a:srgbClr val="00B0F0"/>
                </a:solidFill>
              </a:rPr>
              <a:t>.</a:t>
            </a:r>
          </a:p>
          <a:p>
            <a:r>
              <a:rPr lang="ko-KR" altLang="en-US" dirty="0">
                <a:solidFill>
                  <a:srgbClr val="00B0F0"/>
                </a:solidFill>
              </a:rPr>
              <a:t>지속가능발전은 기술이 아니라 </a:t>
            </a:r>
            <a:r>
              <a:rPr lang="ko-KR" altLang="en-US" b="1" dirty="0">
                <a:solidFill>
                  <a:srgbClr val="00B0F0"/>
                </a:solidFill>
              </a:rPr>
              <a:t>양심과 책임의 문제입니다</a:t>
            </a:r>
            <a:endParaRPr lang="en-US" altLang="ko-KR" dirty="0">
              <a:solidFill>
                <a:srgbClr val="00B0F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DD78BA-5863-4DBB-A8B2-F7BFF068C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676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A1791-4538-4067-84D3-32BE8344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바이브</a:t>
            </a:r>
            <a:r>
              <a:rPr lang="ko-KR" altLang="en-US" dirty="0"/>
              <a:t> 코딩</a:t>
            </a:r>
            <a:r>
              <a:rPr lang="en-US" altLang="ko-KR" dirty="0"/>
              <a:t>(Vibe Coding)</a:t>
            </a:r>
            <a:r>
              <a:rPr lang="ko-KR" altLang="en-US" dirty="0"/>
              <a:t> 데모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03C59-2322-4FFF-94D6-A4913AD37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와 대화하며 코드를 만드는 방식</a:t>
            </a:r>
          </a:p>
          <a:p>
            <a:r>
              <a:rPr lang="ko-KR" altLang="en-US" dirty="0"/>
              <a:t>문법보다 아이디어와 흐름에 집중</a:t>
            </a:r>
          </a:p>
          <a:p>
            <a:r>
              <a:rPr lang="ko-KR" altLang="en-US" dirty="0"/>
              <a:t>빠른 프로토타이핑과 실험 중심 개발</a:t>
            </a:r>
          </a:p>
          <a:p>
            <a:r>
              <a:rPr lang="ko-KR" altLang="en-US" dirty="0"/>
              <a:t>개발자와 </a:t>
            </a:r>
            <a:r>
              <a:rPr lang="en-US" altLang="ko-KR" dirty="0"/>
              <a:t>AI</a:t>
            </a:r>
            <a:r>
              <a:rPr lang="ko-KR" altLang="en-US" dirty="0"/>
              <a:t>의 협업 코딩 문화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데모</a:t>
            </a:r>
            <a:r>
              <a:rPr lang="en-US" altLang="ko-KR" dirty="0"/>
              <a:t>1: </a:t>
            </a:r>
            <a:r>
              <a:rPr lang="ko-KR" altLang="en-US" dirty="0" err="1"/>
              <a:t>블록깨기</a:t>
            </a:r>
            <a:r>
              <a:rPr lang="ko-KR" altLang="en-US" dirty="0"/>
              <a:t> 게임</a:t>
            </a:r>
            <a:endParaRPr lang="en-US" altLang="ko-KR" dirty="0"/>
          </a:p>
          <a:p>
            <a:r>
              <a:rPr lang="ko-KR" altLang="en-US" dirty="0"/>
              <a:t>데모</a:t>
            </a:r>
            <a:r>
              <a:rPr lang="en-US" altLang="ko-KR" dirty="0"/>
              <a:t>2: AI </a:t>
            </a:r>
            <a:r>
              <a:rPr lang="ko-KR" altLang="en-US" dirty="0"/>
              <a:t>탁구 게임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55B15-5842-4954-993A-4FFDED8D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35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함초롬돋움" panose="020B0604000101010101" pitchFamily="50" charset="-127"/>
                <a:cs typeface="함초롬돋움" panose="020B0604000101010101" pitchFamily="50" charset="-127"/>
              </a:rPr>
              <a:t>휴머노이드</a:t>
            </a:r>
            <a:r>
              <a:rPr lang="en-US" altLang="ko-KR" dirty="0">
                <a:latin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dirty="0">
                <a:latin typeface="함초롬돋움" panose="020B0604000101010101" pitchFamily="50" charset="-127"/>
                <a:cs typeface="함초롬돋움" panose="020B0604000101010101" pitchFamily="50" charset="-127"/>
              </a:rPr>
              <a:t>자율주행</a:t>
            </a:r>
            <a:r>
              <a:rPr lang="en-US" altLang="ko-KR" dirty="0">
                <a:latin typeface="함초롬돋움" panose="020B0604000101010101" pitchFamily="50" charset="-127"/>
                <a:cs typeface="함초롬돋움" panose="020B0604000101010101" pitchFamily="50" charset="-127"/>
              </a:rPr>
              <a:t>-</a:t>
            </a:r>
            <a:r>
              <a:rPr lang="ko-KR" altLang="en-US" dirty="0" err="1">
                <a:latin typeface="함초롬돋움" panose="020B0604000101010101" pitchFamily="50" charset="-127"/>
                <a:cs typeface="함초롬돋움" panose="020B0604000101010101" pitchFamily="50" charset="-127"/>
              </a:rPr>
              <a:t>모빌리티</a:t>
            </a:r>
            <a:r>
              <a:rPr lang="en-US" altLang="ko-KR" dirty="0">
                <a:latin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dirty="0">
                <a:latin typeface="함초롬돋움" panose="020B0604000101010101" pitchFamily="50" charset="-127"/>
                <a:cs typeface="함초롬돋움" panose="020B0604000101010101" pitchFamily="50" charset="-127"/>
              </a:rPr>
              <a:t>우주 항공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4294967295"/>
          </p:nvPr>
        </p:nvSpPr>
        <p:spPr>
          <a:xfrm>
            <a:off x="638332" y="1196752"/>
            <a:ext cx="2376098" cy="639762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Robotics</a:t>
            </a:r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3074" name="Picture 2" descr="Hyundai Motor acquires Boston Dynamics from SoftBank for almost $1 bn - KED  Glob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2" y="1946027"/>
            <a:ext cx="304887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4" y="1836514"/>
            <a:ext cx="1041322" cy="1412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휴머니티를 향한 진보의 시작 | 모빌리티 - 현대자동차 월드와이드">
            <a:extLst>
              <a:ext uri="{FF2B5EF4-FFF2-40B4-BE49-F238E27FC236}">
                <a16:creationId xmlns:a16="http://schemas.microsoft.com/office/drawing/2014/main" id="{98668E12-8610-4C46-9A9B-36A79CAEE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429" y="1362013"/>
            <a:ext cx="2874418" cy="1634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-35A">
            <a:extLst>
              <a:ext uri="{FF2B5EF4-FFF2-40B4-BE49-F238E27FC236}">
                <a16:creationId xmlns:a16="http://schemas.microsoft.com/office/drawing/2014/main" id="{7ACF8D68-A753-4BB6-9564-77D03167C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430" y="3043836"/>
            <a:ext cx="2874419" cy="16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CA158B6-FF0F-4FD5-AE3B-579509A91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0635" y="1362013"/>
            <a:ext cx="2399797" cy="33167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81EE09-B739-4E47-BFA9-E99EFA6241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55" y="4736235"/>
            <a:ext cx="7675177" cy="142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29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26F8D-A9B0-465E-9F1F-350FC986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인프라 및 인재 전쟁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A743C-3374-47B2-88F3-535643B86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인프라</a:t>
            </a:r>
            <a:r>
              <a:rPr lang="en-US" altLang="ko-KR" dirty="0"/>
              <a:t>(IT/</a:t>
            </a:r>
            <a:r>
              <a:rPr lang="ko-KR" altLang="en-US" dirty="0"/>
              <a:t>디지털 전환</a:t>
            </a:r>
            <a:r>
              <a:rPr lang="en-US" altLang="ko-KR" dirty="0"/>
              <a:t>, </a:t>
            </a:r>
            <a:r>
              <a:rPr lang="ko-KR" altLang="en-US" dirty="0"/>
              <a:t>반도체</a:t>
            </a:r>
            <a:r>
              <a:rPr lang="en-US" altLang="ko-KR" dirty="0"/>
              <a:t>·</a:t>
            </a:r>
            <a:r>
              <a:rPr lang="ko-KR" altLang="en-US" dirty="0" err="1"/>
              <a:t>전력망</a:t>
            </a:r>
            <a:r>
              <a:rPr lang="en-US" altLang="ko-KR" dirty="0"/>
              <a:t>·</a:t>
            </a:r>
            <a:r>
              <a:rPr lang="ko-KR" altLang="en-US" dirty="0"/>
              <a:t>데이터센터 건설</a:t>
            </a:r>
            <a:r>
              <a:rPr lang="en-US" altLang="ko-KR" dirty="0"/>
              <a:t>, AI)</a:t>
            </a:r>
          </a:p>
          <a:p>
            <a:pPr lvl="1"/>
            <a:r>
              <a:rPr lang="ko-KR" altLang="en-US" dirty="0"/>
              <a:t>순수 </a:t>
            </a:r>
            <a:r>
              <a:rPr lang="en-US" altLang="ko-KR" dirty="0"/>
              <a:t>AI 3,500</a:t>
            </a:r>
            <a:r>
              <a:rPr lang="ko-KR" altLang="en-US" dirty="0"/>
              <a:t>조</a:t>
            </a:r>
            <a:endParaRPr lang="en-US" altLang="ko-KR" dirty="0"/>
          </a:p>
          <a:p>
            <a:pPr lvl="1"/>
            <a:r>
              <a:rPr lang="ko-KR" altLang="en-US" dirty="0"/>
              <a:t>인프라 포함 </a:t>
            </a:r>
            <a:r>
              <a:rPr lang="en-US" altLang="ko-KR" dirty="0"/>
              <a:t>4</a:t>
            </a:r>
            <a:r>
              <a:rPr lang="ko-KR" altLang="en-US" dirty="0"/>
              <a:t>경원 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인재 전쟁</a:t>
            </a:r>
            <a:endParaRPr lang="en-US" altLang="ko-KR" dirty="0"/>
          </a:p>
          <a:p>
            <a:pPr lvl="1"/>
            <a:r>
              <a:rPr lang="en-US" altLang="ko-KR" dirty="0"/>
              <a:t>Google – </a:t>
            </a:r>
            <a:r>
              <a:rPr lang="ko-KR" altLang="en-US" dirty="0" err="1"/>
              <a:t>딥마인드</a:t>
            </a:r>
            <a:r>
              <a:rPr lang="ko-KR" altLang="en-US" dirty="0"/>
              <a:t> 인수 및 연구자 확보</a:t>
            </a:r>
            <a:endParaRPr lang="en-US" altLang="ko-KR" dirty="0"/>
          </a:p>
          <a:p>
            <a:pPr lvl="1"/>
            <a:r>
              <a:rPr lang="en-US" altLang="ko-KR" dirty="0"/>
              <a:t>Microsoft – </a:t>
            </a:r>
            <a:r>
              <a:rPr lang="ko-KR" altLang="en-US" dirty="0"/>
              <a:t>오픈</a:t>
            </a:r>
            <a:r>
              <a:rPr lang="en-US" altLang="ko-KR" dirty="0"/>
              <a:t>AI</a:t>
            </a:r>
            <a:r>
              <a:rPr lang="ko-KR" altLang="en-US" dirty="0"/>
              <a:t>와의 전략적 제휴</a:t>
            </a:r>
            <a:endParaRPr lang="en-US" altLang="ko-KR" dirty="0"/>
          </a:p>
          <a:p>
            <a:pPr lvl="1"/>
            <a:r>
              <a:rPr lang="en-US" altLang="ko-KR" dirty="0"/>
              <a:t>Meta Platforms – </a:t>
            </a:r>
            <a:r>
              <a:rPr lang="ko-KR" altLang="en-US" dirty="0"/>
              <a:t>초고연봉 </a:t>
            </a:r>
            <a:r>
              <a:rPr lang="en-US" altLang="ko-KR" dirty="0"/>
              <a:t>AI </a:t>
            </a:r>
            <a:r>
              <a:rPr lang="ko-KR" altLang="en-US" dirty="0"/>
              <a:t>연구자 스카우트</a:t>
            </a:r>
            <a:endParaRPr lang="en-US" altLang="ko-KR" dirty="0"/>
          </a:p>
          <a:p>
            <a:pPr lvl="2"/>
            <a:r>
              <a:rPr lang="en-US" altLang="ko-KR" dirty="0"/>
              <a:t>3500</a:t>
            </a:r>
            <a:r>
              <a:rPr lang="ko-KR" altLang="en-US" dirty="0"/>
              <a:t>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C52A65-338A-4A2F-BBF4-C867E743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885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3DCB9-62AE-4607-86F9-68286F68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세계 경제의 흐름과 가치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ADF72-44EA-4733-9308-21BDCDB4C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금</a:t>
            </a:r>
            <a:r>
              <a:rPr lang="ko-KR" altLang="en-US" dirty="0"/>
              <a:t>은 자산이었고</a:t>
            </a:r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석유</a:t>
            </a:r>
            <a:r>
              <a:rPr lang="ko-KR" altLang="en-US" dirty="0"/>
              <a:t>는 에너지였고</a:t>
            </a:r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전력</a:t>
            </a:r>
            <a:r>
              <a:rPr lang="ko-KR" altLang="en-US" dirty="0"/>
              <a:t>은 인프라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미래의 기반은 </a:t>
            </a:r>
            <a:r>
              <a:rPr lang="ko-KR" altLang="en-US" b="1" dirty="0"/>
              <a:t>신뢰와 인간의 가치</a:t>
            </a:r>
            <a:r>
              <a:rPr lang="ko-KR" altLang="en-US" dirty="0"/>
              <a:t>일까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시대에 우리가 지켜야 할 마지막 자산은</a:t>
            </a:r>
            <a:br>
              <a:rPr lang="ko-KR" altLang="en-US" dirty="0"/>
            </a:br>
            <a:r>
              <a:rPr lang="ko-KR" altLang="en-US" b="1" dirty="0" err="1"/>
              <a:t>인간다움</a:t>
            </a:r>
            <a:endParaRPr lang="en-US" altLang="ko-KR" b="1" dirty="0"/>
          </a:p>
          <a:p>
            <a:pPr lvl="1"/>
            <a:r>
              <a:rPr lang="ko-KR" altLang="en-US" dirty="0"/>
              <a:t>신뢰</a:t>
            </a:r>
            <a:r>
              <a:rPr lang="en-US" altLang="ko-KR" dirty="0"/>
              <a:t>, </a:t>
            </a:r>
            <a:r>
              <a:rPr lang="ko-KR" altLang="en-US" dirty="0"/>
              <a:t>양심과 책임</a:t>
            </a:r>
          </a:p>
          <a:p>
            <a:pPr lvl="1"/>
            <a:r>
              <a:rPr lang="ko-KR" altLang="en-US" dirty="0"/>
              <a:t>관계</a:t>
            </a:r>
            <a:r>
              <a:rPr lang="en-US" altLang="ko-KR" dirty="0"/>
              <a:t>, </a:t>
            </a:r>
            <a:r>
              <a:rPr lang="ko-KR" altLang="en-US" dirty="0"/>
              <a:t>존엄</a:t>
            </a:r>
            <a:r>
              <a:rPr lang="en-US" altLang="ko-KR" dirty="0"/>
              <a:t>, </a:t>
            </a:r>
            <a:r>
              <a:rPr lang="ko-KR" altLang="en-US" dirty="0"/>
              <a:t>사랑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58A15D-C14D-4EC3-A60A-4E0422F6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632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83B3D4F-47AD-42A7-9001-200F0CA8D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로 에너지 절약과 탄소 감축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로 농업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건강</a:t>
            </a:r>
            <a:r>
              <a:rPr lang="en-US" altLang="ko-KR" dirty="0"/>
              <a:t>·</a:t>
            </a:r>
            <a:r>
              <a:rPr lang="ko-KR" altLang="en-US" dirty="0"/>
              <a:t>재난 혁신</a:t>
            </a:r>
          </a:p>
          <a:p>
            <a:r>
              <a:rPr lang="ko-KR" altLang="en-US" dirty="0"/>
              <a:t>환경</a:t>
            </a:r>
            <a:r>
              <a:rPr lang="en-US" altLang="ko-KR" dirty="0"/>
              <a:t>·</a:t>
            </a:r>
            <a:r>
              <a:rPr lang="ko-KR" altLang="en-US" dirty="0"/>
              <a:t>돌봄</a:t>
            </a:r>
            <a:r>
              <a:rPr lang="en-US" altLang="ko-KR" dirty="0"/>
              <a:t>·</a:t>
            </a:r>
            <a:r>
              <a:rPr lang="ko-KR" altLang="en-US" dirty="0"/>
              <a:t>문화를 실천으로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를 공동체의 도구로 활용</a:t>
            </a:r>
          </a:p>
          <a:p>
            <a:r>
              <a:rPr lang="ko-KR" altLang="en-US" dirty="0"/>
              <a:t>기술보다 가치 선택</a:t>
            </a:r>
          </a:p>
          <a:p>
            <a:endParaRPr lang="en-US" altLang="ko-KR" dirty="0"/>
          </a:p>
          <a:p>
            <a:r>
              <a:rPr lang="ko-KR" altLang="en-US" dirty="0"/>
              <a:t>미래는 기술이 아니라</a:t>
            </a:r>
            <a:r>
              <a:rPr lang="en-US" altLang="ko-KR" dirty="0"/>
              <a:t>, </a:t>
            </a:r>
            <a:r>
              <a:rPr lang="ko-KR" altLang="en-US" dirty="0"/>
              <a:t>우리의 선택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안동 지속발전 파이팅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청록색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1061</Words>
  <Application>Microsoft Office PowerPoint</Application>
  <PresentationFormat>화면 슬라이드 쇼(4:3)</PresentationFormat>
  <Paragraphs>235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HY울릉도B</vt:lpstr>
      <vt:lpstr>함초롬돋움</vt:lpstr>
      <vt:lpstr>맑은 고딕</vt:lpstr>
      <vt:lpstr>나눔고딕 ExtraBold</vt:lpstr>
      <vt:lpstr>Sans Serif Collection</vt:lpstr>
      <vt:lpstr>Arial</vt:lpstr>
      <vt:lpstr>-apple-system</vt:lpstr>
      <vt:lpstr>HY견고딕</vt:lpstr>
      <vt:lpstr>HY울릉도M</vt:lpstr>
      <vt:lpstr>Office 테마</vt:lpstr>
      <vt:lpstr>AI의 미래와 안동의 지속 발전</vt:lpstr>
      <vt:lpstr>목차</vt:lpstr>
      <vt:lpstr>소개 및 인사</vt:lpstr>
      <vt:lpstr>Quiz</vt:lpstr>
      <vt:lpstr>신비한 인체 (위대한 작품)</vt:lpstr>
      <vt:lpstr>인류의 발견</vt:lpstr>
      <vt:lpstr>인류의 발명</vt:lpstr>
      <vt:lpstr>창의적 대한민국: 우리나라 발명</vt:lpstr>
      <vt:lpstr>자랑스런 대한 민국</vt:lpstr>
      <vt:lpstr>산업혁명과 퀴즈?</vt:lpstr>
      <vt:lpstr>한국 세계 1등</vt:lpstr>
      <vt:lpstr>IT의 도약</vt:lpstr>
      <vt:lpstr>미래 (사람 중심 AI 플랫폼)</vt:lpstr>
      <vt:lpstr>통신의 발전</vt:lpstr>
      <vt:lpstr>Analog to Digital, SW / HW 소개</vt:lpstr>
      <vt:lpstr>무선통신: 4G 5G 6G</vt:lpstr>
      <vt:lpstr>5G Speed </vt:lpstr>
      <vt:lpstr>인공지능?</vt:lpstr>
      <vt:lpstr>생성형 AI의 원리</vt:lpstr>
      <vt:lpstr>생성형 AI가 잘 하는 것</vt:lpstr>
      <vt:lpstr>AI가 못하는 것</vt:lpstr>
      <vt:lpstr>바이브 코딩(Vibe Coding) 데모</vt:lpstr>
      <vt:lpstr>휴머노이드, 자율주행-모빌리티, 우주 항공</vt:lpstr>
      <vt:lpstr>AI인프라 및 인재 전쟁</vt:lpstr>
      <vt:lpstr>세계 경제의 흐름과 가치</vt:lpstr>
      <vt:lpstr>결론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소프트웨어 산업  현황 및 육성 방안</dc:title>
  <dc:creator>Microsoft Corporation</dc:creator>
  <cp:lastModifiedBy>Shim Jaechang</cp:lastModifiedBy>
  <cp:revision>68</cp:revision>
  <dcterms:created xsi:type="dcterms:W3CDTF">2006-10-05T04:04:58Z</dcterms:created>
  <dcterms:modified xsi:type="dcterms:W3CDTF">2026-02-27T23:55:42Z</dcterms:modified>
</cp:coreProperties>
</file>